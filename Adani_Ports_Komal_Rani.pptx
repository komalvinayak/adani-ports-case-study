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60" r:id="rId6"/>
    <p:sldId id="261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56" autoAdjust="0"/>
    <p:restoredTop sz="94660" autoAdjust="0"/>
  </p:normalViewPr>
  <p:slideViewPr>
    <p:cSldViewPr snapToGrid="0">
      <p:cViewPr varScale="1">
        <p:scale>
          <a:sx n="59" d="100"/>
          <a:sy n="59" d="100"/>
        </p:scale>
        <p:origin x="596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FC0B86-AA5F-47CA-AD94-DA0B230143DF}" type="doc">
      <dgm:prSet loTypeId="urn:microsoft.com/office/officeart/2024/layout/BulletTimeline#1" loCatId="timeline" qsTypeId="urn:microsoft.com/office/officeart/2005/8/quickstyle/simple1#1" qsCatId="simple" csTypeId="urn:microsoft.com/office/officeart/2005/8/colors/accent0_1#1" csCatId="mainScheme" phldr="1"/>
      <dgm:spPr/>
      <dgm:t>
        <a:bodyPr/>
        <a:lstStyle/>
        <a:p>
          <a:endParaRPr lang="en-US"/>
        </a:p>
      </dgm:t>
    </dgm:pt>
    <dgm:pt modelId="{F55C921D-812F-4E3E-8038-907665851E5A}">
      <dgm:prSet phldrT="Title" custT="1"/>
      <dgm:spPr/>
      <dgm:t>
        <a:bodyPr/>
        <a:lstStyle/>
        <a:p>
          <a:pPr>
            <a:defRPr b="1"/>
          </a:pP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1998</a:t>
          </a:r>
        </a:p>
      </dgm:t>
    </dgm:pt>
    <dgm:pt modelId="{AB186AD1-C13A-4AD4-80EB-5DE1439A4217}" type="parTrans" cxnId="{B15E3B54-FEF4-4607-9DAE-01BE92AC286D}">
      <dgm:prSet/>
      <dgm:spPr/>
      <dgm:t>
        <a:bodyPr/>
        <a:lstStyle/>
        <a:p>
          <a:endParaRPr lang="en-US"/>
        </a:p>
      </dgm:t>
    </dgm:pt>
    <dgm:pt modelId="{178C4ECA-9C9C-4C5B-93C3-7CE5CCB1CCED}" type="sibTrans" cxnId="{B15E3B54-FEF4-4607-9DAE-01BE92AC286D}">
      <dgm:prSet phldrT="1" phldr="0"/>
      <dgm:spPr/>
      <dgm:t>
        <a:bodyPr/>
        <a:lstStyle/>
        <a:p>
          <a:endParaRPr lang="en-US"/>
        </a:p>
      </dgm:t>
    </dgm:pt>
    <dgm:pt modelId="{334E5746-C054-4C14-B157-23EE3A1021D3}">
      <dgm:prSet phldrT="Description"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Started with Mundra Port, Gujarat</a:t>
          </a:r>
        </a:p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en-US" sz="1400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rPr>
            <a:t>Gujarat Adani Port Limited)</a:t>
          </a:r>
        </a:p>
      </dgm:t>
    </dgm:pt>
    <dgm:pt modelId="{8E033F65-06A8-42C8-AC2C-984F797C9B53}" type="parTrans" cxnId="{5D2A234A-EF22-41C5-9EA3-670E1ADE74E7}">
      <dgm:prSet/>
      <dgm:spPr/>
      <dgm:t>
        <a:bodyPr/>
        <a:lstStyle/>
        <a:p>
          <a:endParaRPr lang="en-US"/>
        </a:p>
      </dgm:t>
    </dgm:pt>
    <dgm:pt modelId="{BDC6A021-C2D7-4A86-8EC8-BD8CC0A702EA}" type="sibTrans" cxnId="{5D2A234A-EF22-41C5-9EA3-670E1ADE74E7}">
      <dgm:prSet/>
      <dgm:spPr/>
      <dgm:t>
        <a:bodyPr/>
        <a:lstStyle/>
        <a:p>
          <a:endParaRPr lang="en-US"/>
        </a:p>
      </dgm:t>
    </dgm:pt>
    <dgm:pt modelId="{D8349F02-0D6F-43DD-A25E-68D9F0CDEBDA}">
      <dgm:prSet phldrT="Title" custT="1"/>
      <dgm:spPr/>
      <dgm:t>
        <a:bodyPr/>
        <a:lstStyle/>
        <a:p>
          <a:pPr>
            <a:defRPr b="1"/>
          </a:pP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2010</a:t>
          </a:r>
        </a:p>
      </dgm:t>
    </dgm:pt>
    <dgm:pt modelId="{301228C1-5D89-4FC6-BF9A-9D66AE5A2F03}" type="parTrans" cxnId="{E48F5A82-A157-4534-B4EA-3D482089D999}">
      <dgm:prSet/>
      <dgm:spPr/>
      <dgm:t>
        <a:bodyPr/>
        <a:lstStyle/>
        <a:p>
          <a:endParaRPr lang="en-US"/>
        </a:p>
      </dgm:t>
    </dgm:pt>
    <dgm:pt modelId="{E00139AF-46D9-44AE-B4C9-93B705B71ADF}" type="sibTrans" cxnId="{E48F5A82-A157-4534-B4EA-3D482089D999}">
      <dgm:prSet phldrT="2" phldr="0"/>
      <dgm:spPr/>
      <dgm:t>
        <a:bodyPr/>
        <a:lstStyle/>
        <a:p>
          <a:endParaRPr lang="en-US"/>
        </a:p>
      </dgm:t>
    </dgm:pt>
    <dgm:pt modelId="{8B397563-884C-4E8B-AC2A-986C1E37286D}">
      <dgm:prSet phldrT="Description"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Expanded to India's east coast - </a:t>
          </a:r>
          <a:r>
            <a:rPr lang="en-US" sz="1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Dhamra</a:t>
          </a: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Krishnapatnam</a:t>
          </a:r>
          <a:endParaRPr lang="en-US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2A1E856-639A-4DA0-A211-3450115CC54F}" type="parTrans" cxnId="{8525EFE3-EBC1-4271-A42A-A02A6A48CF60}">
      <dgm:prSet/>
      <dgm:spPr/>
      <dgm:t>
        <a:bodyPr/>
        <a:lstStyle/>
        <a:p>
          <a:endParaRPr lang="en-US"/>
        </a:p>
      </dgm:t>
    </dgm:pt>
    <dgm:pt modelId="{0B0E43BC-78D7-43EE-969B-08BE069952ED}" type="sibTrans" cxnId="{8525EFE3-EBC1-4271-A42A-A02A6A48CF60}">
      <dgm:prSet/>
      <dgm:spPr/>
      <dgm:t>
        <a:bodyPr/>
        <a:lstStyle/>
        <a:p>
          <a:endParaRPr lang="en-US"/>
        </a:p>
      </dgm:t>
    </dgm:pt>
    <dgm:pt modelId="{79849443-9DB1-408A-9818-884F72E73564}">
      <dgm:prSet phldrT="Title" custT="1"/>
      <dgm:spPr/>
      <dgm:t>
        <a:bodyPr/>
        <a:lstStyle/>
        <a:p>
          <a:pPr>
            <a:defRPr b="1"/>
          </a:pP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2020</a:t>
          </a:r>
        </a:p>
      </dgm:t>
    </dgm:pt>
    <dgm:pt modelId="{6473AD60-2E92-422F-AD9B-A61D19B78FAD}" type="parTrans" cxnId="{4EEEE635-B518-4DA7-8ABE-A7BD84E1F4B6}">
      <dgm:prSet/>
      <dgm:spPr/>
      <dgm:t>
        <a:bodyPr/>
        <a:lstStyle/>
        <a:p>
          <a:endParaRPr lang="en-US"/>
        </a:p>
      </dgm:t>
    </dgm:pt>
    <dgm:pt modelId="{A18E8EED-D52A-476B-BD58-24B42BB9B725}" type="sibTrans" cxnId="{4EEEE635-B518-4DA7-8ABE-A7BD84E1F4B6}">
      <dgm:prSet phldrT="5" phldr="0"/>
      <dgm:spPr/>
      <dgm:t>
        <a:bodyPr/>
        <a:lstStyle/>
        <a:p>
          <a:endParaRPr lang="en-US"/>
        </a:p>
      </dgm:t>
    </dgm:pt>
    <dgm:pt modelId="{CEBF2F6E-C278-40A9-85B9-F7F68C4503EA}">
      <dgm:prSet phldrT="Description"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Went international - Israel, Tanzania, Sri Lanka, Australia</a:t>
          </a:r>
        </a:p>
      </dgm:t>
    </dgm:pt>
    <dgm:pt modelId="{D8094C47-3FCC-41F1-A060-F016A56DDBBC}" type="parTrans" cxnId="{FCC0BD93-E58E-4E35-8CBC-262A0AC0E089}">
      <dgm:prSet/>
      <dgm:spPr/>
      <dgm:t>
        <a:bodyPr/>
        <a:lstStyle/>
        <a:p>
          <a:endParaRPr lang="en-US"/>
        </a:p>
      </dgm:t>
    </dgm:pt>
    <dgm:pt modelId="{985350A2-01E2-4662-9B6D-E03AEE79B54F}" type="sibTrans" cxnId="{FCC0BD93-E58E-4E35-8CBC-262A0AC0E089}">
      <dgm:prSet/>
      <dgm:spPr/>
      <dgm:t>
        <a:bodyPr/>
        <a:lstStyle/>
        <a:p>
          <a:endParaRPr lang="en-US"/>
        </a:p>
      </dgm:t>
    </dgm:pt>
    <dgm:pt modelId="{ED410C54-CC68-4984-ACE8-1FE600BB0586}">
      <dgm:prSet phldrT="Title" phldr="0" custT="1"/>
      <dgm:spPr/>
      <dgm:t>
        <a:bodyPr/>
        <a:lstStyle/>
        <a:p>
          <a:pPr>
            <a:defRPr b="1"/>
          </a:pP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Jun 2026</a:t>
          </a:r>
        </a:p>
      </dgm:t>
    </dgm:pt>
    <dgm:pt modelId="{1E040BC3-FECC-4691-812E-CBE573EB0630}" type="parTrans" cxnId="{6D2BFA19-2D16-470B-9192-932F414BD757}">
      <dgm:prSet/>
      <dgm:spPr/>
      <dgm:t>
        <a:bodyPr/>
        <a:lstStyle/>
        <a:p>
          <a:endParaRPr lang="en-US"/>
        </a:p>
      </dgm:t>
    </dgm:pt>
    <dgm:pt modelId="{69F315BD-9C36-4462-B121-C1347055C68B}" type="sibTrans" cxnId="{6D2BFA19-2D16-470B-9192-932F414BD757}">
      <dgm:prSet phldrT="6" phldr="0"/>
      <dgm:spPr/>
      <dgm:t>
        <a:bodyPr/>
        <a:lstStyle/>
        <a:p>
          <a:endParaRPr lang="en-US"/>
        </a:p>
      </dgm:t>
    </dgm:pt>
    <dgm:pt modelId="{52CBC435-F052-44C7-B4DB-D683A52DC55F}">
      <dgm:prSet phldrT="Description" custT="1"/>
      <dgm:spPr/>
      <dgm:t>
        <a:bodyPr/>
        <a:lstStyle/>
        <a:p>
          <a:r>
            <a:rPr lang="en-US" sz="1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Vizhinjam</a:t>
          </a: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 - MSC deal + </a:t>
          </a:r>
        </a:p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S&amp;P BBB upgrade</a:t>
          </a:r>
        </a:p>
      </dgm:t>
    </dgm:pt>
    <dgm:pt modelId="{0111A735-B25A-400E-8383-A1540C393CD7}" type="parTrans" cxnId="{65D3B29E-1F7C-4B16-AF6F-37FB719AFF60}">
      <dgm:prSet/>
      <dgm:spPr/>
      <dgm:t>
        <a:bodyPr/>
        <a:lstStyle/>
        <a:p>
          <a:endParaRPr lang="en-US"/>
        </a:p>
      </dgm:t>
    </dgm:pt>
    <dgm:pt modelId="{AD7E8EC7-2271-41DB-9DFE-4593D31AA297}" type="sibTrans" cxnId="{65D3B29E-1F7C-4B16-AF6F-37FB719AFF60}">
      <dgm:prSet/>
      <dgm:spPr/>
      <dgm:t>
        <a:bodyPr/>
        <a:lstStyle/>
        <a:p>
          <a:endParaRPr lang="en-US"/>
        </a:p>
      </dgm:t>
    </dgm:pt>
    <dgm:pt modelId="{F5C2BA56-75B2-4FFB-8395-FDA1581F144B}">
      <dgm:prSet phldrT="Title" phldr="0" custT="1"/>
      <dgm:spPr/>
      <dgm:t>
        <a:bodyPr/>
        <a:lstStyle/>
        <a:p>
          <a:pPr>
            <a:defRPr b="1"/>
          </a:pP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2012</a:t>
          </a:r>
        </a:p>
      </dgm:t>
    </dgm:pt>
    <dgm:pt modelId="{5ADB5A62-9CCD-4490-A25A-87A4790038B6}" type="parTrans" cxnId="{441710B2-B464-4142-A8E1-684A8955413E}">
      <dgm:prSet/>
      <dgm:spPr/>
      <dgm:t>
        <a:bodyPr/>
        <a:lstStyle/>
        <a:p>
          <a:endParaRPr lang="en-US"/>
        </a:p>
      </dgm:t>
    </dgm:pt>
    <dgm:pt modelId="{61DE4834-ED24-4CDA-B04A-D13F6D8BE0A0}" type="sibTrans" cxnId="{441710B2-B464-4142-A8E1-684A8955413E}">
      <dgm:prSet phldrT="3" phldr="0"/>
      <dgm:spPr/>
      <dgm:t>
        <a:bodyPr/>
        <a:lstStyle/>
        <a:p>
          <a:endParaRPr lang="en-US"/>
        </a:p>
      </dgm:t>
    </dgm:pt>
    <dgm:pt modelId="{09445D6E-DDBE-432D-931F-29647DEC3617}">
      <dgm:prSet phldrT="Description" custT="1"/>
      <dgm:spPr/>
      <dgm:t>
        <a:bodyPr/>
        <a:lstStyle/>
        <a:p>
          <a:r>
            <a:rPr lang="en-US" sz="1400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rPr>
            <a:t>changed its name to Adani Ports and Special Economic Zone Limited (APSEZ)</a:t>
          </a:r>
        </a:p>
      </dgm:t>
    </dgm:pt>
    <dgm:pt modelId="{E63D326D-072A-4A78-92B2-52671C9CD002}" type="parTrans" cxnId="{89BCAF78-4980-4E6F-99D6-69B9502D9ED9}">
      <dgm:prSet/>
      <dgm:spPr/>
      <dgm:t>
        <a:bodyPr/>
        <a:lstStyle/>
        <a:p>
          <a:endParaRPr lang="en-US"/>
        </a:p>
      </dgm:t>
    </dgm:pt>
    <dgm:pt modelId="{8451E0BA-175A-40C5-8880-17B4D7A45A93}" type="sibTrans" cxnId="{89BCAF78-4980-4E6F-99D6-69B9502D9ED9}">
      <dgm:prSet/>
      <dgm:spPr/>
      <dgm:t>
        <a:bodyPr/>
        <a:lstStyle/>
        <a:p>
          <a:endParaRPr lang="en-US"/>
        </a:p>
      </dgm:t>
    </dgm:pt>
    <dgm:pt modelId="{F61BF0D8-8170-4BDF-A81C-C17C607DF52F}">
      <dgm:prSet phldrT="Title" custT="1"/>
      <dgm:spPr/>
      <dgm:t>
        <a:bodyPr/>
        <a:lstStyle/>
        <a:p>
          <a:pPr>
            <a:defRPr b="1"/>
          </a:pP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2019</a:t>
          </a:r>
        </a:p>
      </dgm:t>
    </dgm:pt>
    <dgm:pt modelId="{5F30356C-0F91-43E8-85C3-2C2DF905D568}" type="parTrans" cxnId="{E0E0E002-9319-496C-9034-AF56293E4882}">
      <dgm:prSet/>
      <dgm:spPr/>
      <dgm:t>
        <a:bodyPr/>
        <a:lstStyle/>
        <a:p>
          <a:endParaRPr lang="en-US"/>
        </a:p>
      </dgm:t>
    </dgm:pt>
    <dgm:pt modelId="{7612E67B-3D6B-4E7E-A697-DC33891CE5C4}" type="sibTrans" cxnId="{E0E0E002-9319-496C-9034-AF56293E4882}">
      <dgm:prSet phldrT="4" phldr="0"/>
      <dgm:spPr/>
      <dgm:t>
        <a:bodyPr/>
        <a:lstStyle/>
        <a:p>
          <a:endParaRPr lang="en-US"/>
        </a:p>
      </dgm:t>
    </dgm:pt>
    <dgm:pt modelId="{1E2655D4-F876-4998-B8B5-044C7E8BEBCB}">
      <dgm:prSet phldrT="Description"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APSEZ became the first Indian port operator to record a cargo throughput milestone of 200 Million Metric </a:t>
          </a:r>
          <a:r>
            <a:rPr lang="en-US" sz="1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Tonnes</a:t>
          </a: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gm:t>
    </dgm:pt>
    <dgm:pt modelId="{92160216-0619-4171-A887-5EFBFD2F1861}" type="parTrans" cxnId="{0BA32F08-71EE-4E69-8FED-8229AE90C01B}">
      <dgm:prSet/>
      <dgm:spPr/>
      <dgm:t>
        <a:bodyPr/>
        <a:lstStyle/>
        <a:p>
          <a:endParaRPr lang="en-US"/>
        </a:p>
      </dgm:t>
    </dgm:pt>
    <dgm:pt modelId="{722A0FEE-36AD-4C56-AF0C-6453196D5DF5}" type="sibTrans" cxnId="{0BA32F08-71EE-4E69-8FED-8229AE90C01B}">
      <dgm:prSet/>
      <dgm:spPr/>
      <dgm:t>
        <a:bodyPr/>
        <a:lstStyle/>
        <a:p>
          <a:endParaRPr lang="en-US"/>
        </a:p>
      </dgm:t>
    </dgm:pt>
    <dgm:pt modelId="{5CF210D6-9B17-4455-B9D5-945021460487}" type="pres">
      <dgm:prSet presAssocID="{C8FC0B86-AA5F-47CA-AD94-DA0B230143DF}" presName="root" presStyleCnt="0">
        <dgm:presLayoutVars>
          <dgm:dir/>
          <dgm:animLvl val="lvl"/>
        </dgm:presLayoutVars>
      </dgm:prSet>
      <dgm:spPr/>
    </dgm:pt>
    <dgm:pt modelId="{1A17FEB2-FEA6-4678-B2A7-35B6C2D48EAA}" type="pres">
      <dgm:prSet presAssocID="{C8FC0B86-AA5F-47CA-AD94-DA0B230143DF}" presName="divider" presStyleCnt="0"/>
      <dgm:spPr/>
    </dgm:pt>
    <dgm:pt modelId="{E7BF831F-8387-459A-A0CC-BE1C2DAB3E6D}" type="pres">
      <dgm:prSet presAssocID="{C8FC0B86-AA5F-47CA-AD94-DA0B230143DF}" presName="rectBar" presStyleLbl="dkBgShp" presStyleIdx="0" presStyleCnt="8"/>
      <dgm:spPr>
        <a:gradFill rotWithShape="0">
          <a:gsLst>
            <a:gs pos="0">
              <a:schemeClr val="dk1">
                <a:tint val="76000"/>
              </a:schemeClr>
            </a:gs>
            <a:gs pos="100000">
              <a:schemeClr val="dk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038258CB-5BE9-4FD6-BCB1-274A3853397D}" type="pres">
      <dgm:prSet presAssocID="{C8FC0B86-AA5F-47CA-AD94-DA0B230143DF}" presName="chevronArrow" presStyleLbl="dkBgShp" presStyleIdx="1" presStyleCnt="8"/>
      <dgm:spPr>
        <a:gradFill rotWithShape="0">
          <a:gsLst>
            <a:gs pos="0">
              <a:schemeClr val="dk1">
                <a:tint val="76000"/>
              </a:schemeClr>
            </a:gs>
            <a:gs pos="100000">
              <a:schemeClr val="dk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B09A2E6A-A844-436D-BF2B-AE5C4739E155}" type="pres">
      <dgm:prSet presAssocID="{C8FC0B86-AA5F-47CA-AD94-DA0B230143DF}" presName="nodes" presStyleCnt="0">
        <dgm:presLayoutVars>
          <dgm:chMax/>
          <dgm:chPref/>
          <dgm:animLvl val="lvl"/>
        </dgm:presLayoutVars>
      </dgm:prSet>
      <dgm:spPr/>
    </dgm:pt>
    <dgm:pt modelId="{6226FAB6-20A1-4D23-BED2-E443E2BCDF77}" type="pres">
      <dgm:prSet presAssocID="{F55C921D-812F-4E3E-8038-907665851E5A}" presName="composite" presStyleCnt="0"/>
      <dgm:spPr/>
    </dgm:pt>
    <dgm:pt modelId="{3761507B-7A49-4063-BB1C-58BFDB79315A}" type="pres">
      <dgm:prSet presAssocID="{F55C921D-812F-4E3E-8038-907665851E5A}" presName="DropPinPlaceHolder" presStyleCnt="0"/>
      <dgm:spPr/>
    </dgm:pt>
    <dgm:pt modelId="{3E84ECA5-7A6C-495D-A14E-55E61F73AF15}" type="pres">
      <dgm:prSet presAssocID="{F55C921D-812F-4E3E-8038-907665851E5A}" presName="DropPin" presStyleLbl="alignNode1" presStyleIdx="0" presStyleCnt="6"/>
      <dgm:spPr/>
    </dgm:pt>
    <dgm:pt modelId="{084FA66A-DA6D-4A3B-B40D-E52077D56AE7}" type="pres">
      <dgm:prSet presAssocID="{F55C921D-812F-4E3E-8038-907665851E5A}" presName="Ellipse" presStyleLbl="fgAcc1" presStyleIdx="0" presStyleCnt="6"/>
      <dgm:spPr/>
    </dgm:pt>
    <dgm:pt modelId="{7C0E6424-685E-443C-9BA7-DCBE1ADC4766}" type="pres">
      <dgm:prSet presAssocID="{F55C921D-812F-4E3E-8038-907665851E5A}" presName="L2TextContainer" presStyleLbl="revTx" presStyleIdx="0" presStyleCnt="12">
        <dgm:presLayoutVars>
          <dgm:bulletEnabled val="1"/>
        </dgm:presLayoutVars>
      </dgm:prSet>
      <dgm:spPr/>
    </dgm:pt>
    <dgm:pt modelId="{4C6DF1A4-4CFC-4DA8-A4EC-E42C33D28515}" type="pres">
      <dgm:prSet presAssocID="{F55C921D-812F-4E3E-8038-907665851E5A}" presName="L1TextContainer" presStyleLbl="revTx" presStyleIdx="1" presStyleCnt="12">
        <dgm:presLayoutVars>
          <dgm:chMax val="1"/>
          <dgm:chPref val="1"/>
          <dgm:bulletEnabled val="1"/>
        </dgm:presLayoutVars>
      </dgm:prSet>
      <dgm:spPr/>
    </dgm:pt>
    <dgm:pt modelId="{C4A3A3E4-0CB9-4599-9131-80306E5F657E}" type="pres">
      <dgm:prSet presAssocID="{F55C921D-812F-4E3E-8038-907665851E5A}" presName="ConnectLine" presStyleLbl="dkBgShp" presStyleIdx="2" presStyleCnt="8"/>
      <dgm:spPr>
        <a:gradFill rotWithShape="0">
          <a:gsLst>
            <a:gs pos="0">
              <a:schemeClr val="dk1">
                <a:tint val="76000"/>
              </a:schemeClr>
            </a:gs>
            <a:gs pos="100000">
              <a:schemeClr val="dk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DA78C78B-C931-4564-9C51-0BCB23C4E727}" type="pres">
      <dgm:prSet presAssocID="{F55C921D-812F-4E3E-8038-907665851E5A}" presName="ConnectorPoint" presStyleCnt="0"/>
      <dgm:spPr/>
    </dgm:pt>
    <dgm:pt modelId="{49780134-49DC-41D3-B4A8-0BE125EF9FEA}" type="pres">
      <dgm:prSet presAssocID="{F55C921D-812F-4E3E-8038-907665851E5A}" presName="Bullet" presStyleLbl="node1NoLn" presStyleIdx="0" presStyleCnt="6"/>
      <dgm:spPr/>
    </dgm:pt>
    <dgm:pt modelId="{076696A1-40F8-445C-9C6D-D50469994C4D}" type="pres">
      <dgm:prSet presAssocID="{F55C921D-812F-4E3E-8038-907665851E5A}" presName="EmptyPlaceHolder" presStyleCnt="0"/>
      <dgm:spPr/>
    </dgm:pt>
    <dgm:pt modelId="{079D9868-98F6-4245-BD40-733858CE06F5}" type="pres">
      <dgm:prSet presAssocID="{178C4ECA-9C9C-4C5B-93C3-7CE5CCB1CCED}" presName="spaceBetweenRectangles" presStyleCnt="0"/>
      <dgm:spPr/>
    </dgm:pt>
    <dgm:pt modelId="{8A48A49D-E3FE-4C01-BD21-443DF6D00200}" type="pres">
      <dgm:prSet presAssocID="{D8349F02-0D6F-43DD-A25E-68D9F0CDEBDA}" presName="composite" presStyleCnt="0"/>
      <dgm:spPr/>
    </dgm:pt>
    <dgm:pt modelId="{C704F8FD-5E04-4EA8-BDDF-A7D9298F286D}" type="pres">
      <dgm:prSet presAssocID="{D8349F02-0D6F-43DD-A25E-68D9F0CDEBDA}" presName="DropPinPlaceHolder" presStyleCnt="0"/>
      <dgm:spPr/>
    </dgm:pt>
    <dgm:pt modelId="{8FF098CC-7219-424F-BDE2-E69B99A233C8}" type="pres">
      <dgm:prSet presAssocID="{D8349F02-0D6F-43DD-A25E-68D9F0CDEBDA}" presName="DropPin" presStyleLbl="alignNode1" presStyleIdx="1" presStyleCnt="6"/>
      <dgm:spPr/>
    </dgm:pt>
    <dgm:pt modelId="{7DFA82A4-6E21-4C46-A082-12FA661B9776}" type="pres">
      <dgm:prSet presAssocID="{D8349F02-0D6F-43DD-A25E-68D9F0CDEBDA}" presName="Ellipse" presStyleLbl="fgAcc1" presStyleIdx="1" presStyleCnt="6"/>
      <dgm:spPr/>
    </dgm:pt>
    <dgm:pt modelId="{7E105791-66C0-4B3A-89E9-A9E5593F7B33}" type="pres">
      <dgm:prSet presAssocID="{D8349F02-0D6F-43DD-A25E-68D9F0CDEBDA}" presName="L2TextContainer" presStyleLbl="revTx" presStyleIdx="2" presStyleCnt="12">
        <dgm:presLayoutVars>
          <dgm:bulletEnabled val="1"/>
        </dgm:presLayoutVars>
      </dgm:prSet>
      <dgm:spPr/>
    </dgm:pt>
    <dgm:pt modelId="{3A1EB50F-FFF2-47FE-A1A5-6A1FBEA70E84}" type="pres">
      <dgm:prSet presAssocID="{D8349F02-0D6F-43DD-A25E-68D9F0CDEBDA}" presName="L1TextContainer" presStyleLbl="revTx" presStyleIdx="3" presStyleCnt="12">
        <dgm:presLayoutVars>
          <dgm:chMax val="1"/>
          <dgm:chPref val="1"/>
          <dgm:bulletEnabled val="1"/>
        </dgm:presLayoutVars>
      </dgm:prSet>
      <dgm:spPr/>
    </dgm:pt>
    <dgm:pt modelId="{20B3E46E-3499-44CA-B4AE-B7CC0897D697}" type="pres">
      <dgm:prSet presAssocID="{D8349F02-0D6F-43DD-A25E-68D9F0CDEBDA}" presName="ConnectLine" presStyleLbl="dkBgShp" presStyleIdx="3" presStyleCnt="8"/>
      <dgm:spPr>
        <a:gradFill rotWithShape="0">
          <a:gsLst>
            <a:gs pos="0">
              <a:schemeClr val="dk1">
                <a:tint val="76000"/>
              </a:schemeClr>
            </a:gs>
            <a:gs pos="100000">
              <a:schemeClr val="dk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6EFD9C96-D55A-4A1A-A3C9-2229E67BBE9E}" type="pres">
      <dgm:prSet presAssocID="{D8349F02-0D6F-43DD-A25E-68D9F0CDEBDA}" presName="ConnectorPoint" presStyleCnt="0"/>
      <dgm:spPr/>
    </dgm:pt>
    <dgm:pt modelId="{89AFD626-0047-4AFD-A297-969534115004}" type="pres">
      <dgm:prSet presAssocID="{D8349F02-0D6F-43DD-A25E-68D9F0CDEBDA}" presName="Bullet" presStyleLbl="node1NoLn" presStyleIdx="1" presStyleCnt="6"/>
      <dgm:spPr/>
    </dgm:pt>
    <dgm:pt modelId="{AA0420A2-361D-49C0-A76D-2BEB7CF1147A}" type="pres">
      <dgm:prSet presAssocID="{D8349F02-0D6F-43DD-A25E-68D9F0CDEBDA}" presName="EmptyPlaceHolder" presStyleCnt="0"/>
      <dgm:spPr/>
    </dgm:pt>
    <dgm:pt modelId="{6FA2061B-109F-4E31-9EEC-CEBBEB018839}" type="pres">
      <dgm:prSet presAssocID="{E00139AF-46D9-44AE-B4C9-93B705B71ADF}" presName="spaceBetweenRectangles" presStyleCnt="0"/>
      <dgm:spPr/>
    </dgm:pt>
    <dgm:pt modelId="{3F5464F8-B563-4D12-853A-0836564C4D16}" type="pres">
      <dgm:prSet presAssocID="{F5C2BA56-75B2-4FFB-8395-FDA1581F144B}" presName="composite" presStyleCnt="0"/>
      <dgm:spPr/>
    </dgm:pt>
    <dgm:pt modelId="{E46CB449-C74F-4232-8BF8-9B64D764312B}" type="pres">
      <dgm:prSet presAssocID="{F5C2BA56-75B2-4FFB-8395-FDA1581F144B}" presName="DropPinPlaceHolder" presStyleCnt="0"/>
      <dgm:spPr/>
    </dgm:pt>
    <dgm:pt modelId="{943395E1-A0AC-42BF-B23D-920E86DA214E}" type="pres">
      <dgm:prSet presAssocID="{F5C2BA56-75B2-4FFB-8395-FDA1581F144B}" presName="DropPin" presStyleLbl="alignNode1" presStyleIdx="2" presStyleCnt="6"/>
      <dgm:spPr/>
    </dgm:pt>
    <dgm:pt modelId="{56E7C0D4-34B7-44BB-AEE2-57ECF2331B5C}" type="pres">
      <dgm:prSet presAssocID="{F5C2BA56-75B2-4FFB-8395-FDA1581F144B}" presName="Ellipse" presStyleLbl="fgAcc1" presStyleIdx="2" presStyleCnt="6"/>
      <dgm:spPr/>
    </dgm:pt>
    <dgm:pt modelId="{213ADD48-BCDA-4711-A08D-A80F40D41F16}" type="pres">
      <dgm:prSet presAssocID="{F5C2BA56-75B2-4FFB-8395-FDA1581F144B}" presName="L2TextContainer" presStyleLbl="revTx" presStyleIdx="4" presStyleCnt="12">
        <dgm:presLayoutVars>
          <dgm:bulletEnabled val="1"/>
        </dgm:presLayoutVars>
      </dgm:prSet>
      <dgm:spPr/>
    </dgm:pt>
    <dgm:pt modelId="{C822A056-EA0B-4224-B5A6-C17826E0AB1D}" type="pres">
      <dgm:prSet presAssocID="{F5C2BA56-75B2-4FFB-8395-FDA1581F144B}" presName="L1TextContainer" presStyleLbl="revTx" presStyleIdx="5" presStyleCnt="12">
        <dgm:presLayoutVars>
          <dgm:chMax val="1"/>
          <dgm:chPref val="1"/>
          <dgm:bulletEnabled val="1"/>
        </dgm:presLayoutVars>
      </dgm:prSet>
      <dgm:spPr/>
    </dgm:pt>
    <dgm:pt modelId="{B45A374A-6BD1-4E88-88D8-62EA2C29632E}" type="pres">
      <dgm:prSet presAssocID="{F5C2BA56-75B2-4FFB-8395-FDA1581F144B}" presName="ConnectLine" presStyleLbl="dkBgShp" presStyleIdx="4" presStyleCnt="8"/>
      <dgm:spPr>
        <a:gradFill rotWithShape="0">
          <a:gsLst>
            <a:gs pos="0">
              <a:schemeClr val="dk1">
                <a:tint val="76000"/>
              </a:schemeClr>
            </a:gs>
            <a:gs pos="100000">
              <a:schemeClr val="dk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D6D97630-2BAF-434C-BB01-EB2520808B4D}" type="pres">
      <dgm:prSet presAssocID="{F5C2BA56-75B2-4FFB-8395-FDA1581F144B}" presName="ConnectorPoint" presStyleCnt="0"/>
      <dgm:spPr/>
    </dgm:pt>
    <dgm:pt modelId="{41982A40-E92D-4B60-A796-267849EDAB25}" type="pres">
      <dgm:prSet presAssocID="{F5C2BA56-75B2-4FFB-8395-FDA1581F144B}" presName="Bullet" presStyleLbl="node1NoLn" presStyleIdx="2" presStyleCnt="6"/>
      <dgm:spPr/>
    </dgm:pt>
    <dgm:pt modelId="{57DC4A06-7800-4C2B-BCAF-30084528AF16}" type="pres">
      <dgm:prSet presAssocID="{F5C2BA56-75B2-4FFB-8395-FDA1581F144B}" presName="EmptyPlaceHolder" presStyleCnt="0"/>
      <dgm:spPr/>
    </dgm:pt>
    <dgm:pt modelId="{5BA44753-B794-471A-AD0E-61F233B65684}" type="pres">
      <dgm:prSet presAssocID="{61DE4834-ED24-4CDA-B04A-D13F6D8BE0A0}" presName="spaceBetweenRectangles" presStyleCnt="0"/>
      <dgm:spPr/>
    </dgm:pt>
    <dgm:pt modelId="{E6971B72-3E3B-4010-A842-43CBAC70EC4B}" type="pres">
      <dgm:prSet presAssocID="{F61BF0D8-8170-4BDF-A81C-C17C607DF52F}" presName="composite" presStyleCnt="0"/>
      <dgm:spPr/>
    </dgm:pt>
    <dgm:pt modelId="{CC5D6334-DA6F-409E-915A-7E98C565C1E0}" type="pres">
      <dgm:prSet presAssocID="{F61BF0D8-8170-4BDF-A81C-C17C607DF52F}" presName="DropPinPlaceHolder" presStyleCnt="0"/>
      <dgm:spPr/>
    </dgm:pt>
    <dgm:pt modelId="{D44BEBB5-FF27-4E28-B4A0-BEA1F9B13A5C}" type="pres">
      <dgm:prSet presAssocID="{F61BF0D8-8170-4BDF-A81C-C17C607DF52F}" presName="DropPin" presStyleLbl="alignNode1" presStyleIdx="3" presStyleCnt="6"/>
      <dgm:spPr/>
    </dgm:pt>
    <dgm:pt modelId="{BF5DED28-6D7C-461B-823B-5A3ACA4E6B5C}" type="pres">
      <dgm:prSet presAssocID="{F61BF0D8-8170-4BDF-A81C-C17C607DF52F}" presName="Ellipse" presStyleLbl="fgAcc1" presStyleIdx="3" presStyleCnt="6"/>
      <dgm:spPr/>
    </dgm:pt>
    <dgm:pt modelId="{07590768-9C15-4561-B15D-EB1E2696BB4C}" type="pres">
      <dgm:prSet presAssocID="{F61BF0D8-8170-4BDF-A81C-C17C607DF52F}" presName="L2TextContainer" presStyleLbl="revTx" presStyleIdx="6" presStyleCnt="12">
        <dgm:presLayoutVars>
          <dgm:bulletEnabled val="1"/>
        </dgm:presLayoutVars>
      </dgm:prSet>
      <dgm:spPr/>
    </dgm:pt>
    <dgm:pt modelId="{077958FE-9A3A-48B0-862B-30BAF9E3C509}" type="pres">
      <dgm:prSet presAssocID="{F61BF0D8-8170-4BDF-A81C-C17C607DF52F}" presName="L1TextContainer" presStyleLbl="revTx" presStyleIdx="7" presStyleCnt="12">
        <dgm:presLayoutVars>
          <dgm:chMax val="1"/>
          <dgm:chPref val="1"/>
          <dgm:bulletEnabled val="1"/>
        </dgm:presLayoutVars>
      </dgm:prSet>
      <dgm:spPr/>
    </dgm:pt>
    <dgm:pt modelId="{9A95BFFF-50EC-4C01-8912-36EE28746535}" type="pres">
      <dgm:prSet presAssocID="{F61BF0D8-8170-4BDF-A81C-C17C607DF52F}" presName="ConnectLine" presStyleLbl="dkBgShp" presStyleIdx="5" presStyleCnt="8"/>
      <dgm:spPr>
        <a:gradFill rotWithShape="0">
          <a:gsLst>
            <a:gs pos="0">
              <a:schemeClr val="dk1">
                <a:tint val="76000"/>
              </a:schemeClr>
            </a:gs>
            <a:gs pos="100000">
              <a:schemeClr val="dk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25DC750B-E3AA-4000-A8E4-D893F65E8D0B}" type="pres">
      <dgm:prSet presAssocID="{F61BF0D8-8170-4BDF-A81C-C17C607DF52F}" presName="ConnectorPoint" presStyleCnt="0"/>
      <dgm:spPr/>
    </dgm:pt>
    <dgm:pt modelId="{C6314617-A677-4620-9837-22E3986AFBFF}" type="pres">
      <dgm:prSet presAssocID="{F61BF0D8-8170-4BDF-A81C-C17C607DF52F}" presName="Bullet" presStyleLbl="node1NoLn" presStyleIdx="3" presStyleCnt="6"/>
      <dgm:spPr/>
    </dgm:pt>
    <dgm:pt modelId="{1AA0C88F-3C01-4447-9666-7306E41FE5CE}" type="pres">
      <dgm:prSet presAssocID="{F61BF0D8-8170-4BDF-A81C-C17C607DF52F}" presName="EmptyPlaceHolder" presStyleCnt="0"/>
      <dgm:spPr/>
    </dgm:pt>
    <dgm:pt modelId="{511A11D7-90C2-4757-A9D6-48EFDC5D0083}" type="pres">
      <dgm:prSet presAssocID="{7612E67B-3D6B-4E7E-A697-DC33891CE5C4}" presName="spaceBetweenRectangles" presStyleCnt="0"/>
      <dgm:spPr/>
    </dgm:pt>
    <dgm:pt modelId="{4DE8F189-8D95-4386-820A-2627DD5C38C9}" type="pres">
      <dgm:prSet presAssocID="{79849443-9DB1-408A-9818-884F72E73564}" presName="composite" presStyleCnt="0"/>
      <dgm:spPr/>
    </dgm:pt>
    <dgm:pt modelId="{1C3A971B-033C-4321-8DAC-59D6D4239B5B}" type="pres">
      <dgm:prSet presAssocID="{79849443-9DB1-408A-9818-884F72E73564}" presName="DropPinPlaceHolder" presStyleCnt="0"/>
      <dgm:spPr/>
    </dgm:pt>
    <dgm:pt modelId="{85F93F8F-B451-4462-BFD5-6B9E23C9ADC5}" type="pres">
      <dgm:prSet presAssocID="{79849443-9DB1-408A-9818-884F72E73564}" presName="DropPin" presStyleLbl="alignNode1" presStyleIdx="4" presStyleCnt="6"/>
      <dgm:spPr/>
    </dgm:pt>
    <dgm:pt modelId="{239D8CB4-C19F-480F-A662-10A31F5254DB}" type="pres">
      <dgm:prSet presAssocID="{79849443-9DB1-408A-9818-884F72E73564}" presName="Ellipse" presStyleLbl="fgAcc1" presStyleIdx="4" presStyleCnt="6"/>
      <dgm:spPr/>
    </dgm:pt>
    <dgm:pt modelId="{CAB6D5AA-8C01-4C19-9350-D1BC8436B194}" type="pres">
      <dgm:prSet presAssocID="{79849443-9DB1-408A-9818-884F72E73564}" presName="L2TextContainer" presStyleLbl="revTx" presStyleIdx="8" presStyleCnt="12">
        <dgm:presLayoutVars>
          <dgm:bulletEnabled val="1"/>
        </dgm:presLayoutVars>
      </dgm:prSet>
      <dgm:spPr/>
    </dgm:pt>
    <dgm:pt modelId="{4708C630-1BFE-47A8-A5F2-9B94109E2AA9}" type="pres">
      <dgm:prSet presAssocID="{79849443-9DB1-408A-9818-884F72E73564}" presName="L1TextContainer" presStyleLbl="revTx" presStyleIdx="9" presStyleCnt="12">
        <dgm:presLayoutVars>
          <dgm:chMax val="1"/>
          <dgm:chPref val="1"/>
          <dgm:bulletEnabled val="1"/>
        </dgm:presLayoutVars>
      </dgm:prSet>
      <dgm:spPr/>
    </dgm:pt>
    <dgm:pt modelId="{F12233CC-5746-4043-AC77-3ADD092B4528}" type="pres">
      <dgm:prSet presAssocID="{79849443-9DB1-408A-9818-884F72E73564}" presName="ConnectLine" presStyleLbl="dkBgShp" presStyleIdx="6" presStyleCnt="8"/>
      <dgm:spPr>
        <a:gradFill rotWithShape="0">
          <a:gsLst>
            <a:gs pos="0">
              <a:schemeClr val="dk1">
                <a:tint val="76000"/>
              </a:schemeClr>
            </a:gs>
            <a:gs pos="100000">
              <a:schemeClr val="dk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31C09DA8-0AD8-40F1-BF92-88CCA8E6A0B6}" type="pres">
      <dgm:prSet presAssocID="{79849443-9DB1-408A-9818-884F72E73564}" presName="ConnectorPoint" presStyleCnt="0"/>
      <dgm:spPr/>
    </dgm:pt>
    <dgm:pt modelId="{5E7E7B73-6AAC-44E5-A658-CB6D6B640679}" type="pres">
      <dgm:prSet presAssocID="{79849443-9DB1-408A-9818-884F72E73564}" presName="Bullet" presStyleLbl="node1NoLn" presStyleIdx="4" presStyleCnt="6"/>
      <dgm:spPr/>
    </dgm:pt>
    <dgm:pt modelId="{C96BB579-E16F-4E57-9F1A-813F05950157}" type="pres">
      <dgm:prSet presAssocID="{79849443-9DB1-408A-9818-884F72E73564}" presName="EmptyPlaceHolder" presStyleCnt="0"/>
      <dgm:spPr/>
    </dgm:pt>
    <dgm:pt modelId="{9751F6F1-C8E2-4FAF-B399-236FCE847272}" type="pres">
      <dgm:prSet presAssocID="{A18E8EED-D52A-476B-BD58-24B42BB9B725}" presName="spaceBetweenRectangles" presStyleCnt="0"/>
      <dgm:spPr/>
    </dgm:pt>
    <dgm:pt modelId="{25F85B5A-CDA2-4624-A8CE-69FABE636EEC}" type="pres">
      <dgm:prSet presAssocID="{ED410C54-CC68-4984-ACE8-1FE600BB0586}" presName="composite" presStyleCnt="0"/>
      <dgm:spPr/>
    </dgm:pt>
    <dgm:pt modelId="{91C65EB3-9FC0-421D-B5D7-D4EA6DD939A7}" type="pres">
      <dgm:prSet presAssocID="{ED410C54-CC68-4984-ACE8-1FE600BB0586}" presName="DropPinPlaceHolder" presStyleCnt="0"/>
      <dgm:spPr/>
    </dgm:pt>
    <dgm:pt modelId="{F3F5CB68-0A09-426C-BB7D-445A09E8AD78}" type="pres">
      <dgm:prSet presAssocID="{ED410C54-CC68-4984-ACE8-1FE600BB0586}" presName="DropPin" presStyleLbl="alignNode1" presStyleIdx="5" presStyleCnt="6"/>
      <dgm:spPr/>
    </dgm:pt>
    <dgm:pt modelId="{C64ED7FC-4D60-45BC-89D7-022E20312E74}" type="pres">
      <dgm:prSet presAssocID="{ED410C54-CC68-4984-ACE8-1FE600BB0586}" presName="Ellipse" presStyleLbl="fgAcc1" presStyleIdx="5" presStyleCnt="6"/>
      <dgm:spPr/>
    </dgm:pt>
    <dgm:pt modelId="{331009E1-8F9A-4CA2-9C85-B8596228ABB6}" type="pres">
      <dgm:prSet presAssocID="{ED410C54-CC68-4984-ACE8-1FE600BB0586}" presName="L2TextContainer" presStyleLbl="revTx" presStyleIdx="10" presStyleCnt="12">
        <dgm:presLayoutVars>
          <dgm:bulletEnabled val="1"/>
        </dgm:presLayoutVars>
      </dgm:prSet>
      <dgm:spPr/>
    </dgm:pt>
    <dgm:pt modelId="{EA5B39B1-A13E-428E-AB1E-6695A41AB613}" type="pres">
      <dgm:prSet presAssocID="{ED410C54-CC68-4984-ACE8-1FE600BB0586}" presName="L1TextContainer" presStyleLbl="revTx" presStyleIdx="11" presStyleCnt="12" custScaleX="108983">
        <dgm:presLayoutVars>
          <dgm:chMax val="1"/>
          <dgm:chPref val="1"/>
          <dgm:bulletEnabled val="1"/>
        </dgm:presLayoutVars>
      </dgm:prSet>
      <dgm:spPr/>
    </dgm:pt>
    <dgm:pt modelId="{3C67A98E-9364-4AE2-8FC6-95F3281B5B55}" type="pres">
      <dgm:prSet presAssocID="{ED410C54-CC68-4984-ACE8-1FE600BB0586}" presName="ConnectLine" presStyleLbl="dkBgShp" presStyleIdx="7" presStyleCnt="8"/>
      <dgm:spPr>
        <a:gradFill rotWithShape="0">
          <a:gsLst>
            <a:gs pos="0">
              <a:schemeClr val="dk1">
                <a:tint val="76000"/>
              </a:schemeClr>
            </a:gs>
            <a:gs pos="100000">
              <a:schemeClr val="dk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E52D5D3E-5753-43C3-B4F2-C87A65DE1BB8}" type="pres">
      <dgm:prSet presAssocID="{ED410C54-CC68-4984-ACE8-1FE600BB0586}" presName="ConnectorPoint" presStyleCnt="0"/>
      <dgm:spPr/>
    </dgm:pt>
    <dgm:pt modelId="{CF45FFEB-45E9-44C6-87BA-5BCF291415DD}" type="pres">
      <dgm:prSet presAssocID="{ED410C54-CC68-4984-ACE8-1FE600BB0586}" presName="Bullet" presStyleLbl="node1NoLn" presStyleIdx="5" presStyleCnt="6"/>
      <dgm:spPr/>
    </dgm:pt>
    <dgm:pt modelId="{3F4F1348-9FA1-49DD-A06A-853D8CC821D3}" type="pres">
      <dgm:prSet presAssocID="{ED410C54-CC68-4984-ACE8-1FE600BB0586}" presName="EmptyPlaceHolder" presStyleCnt="0"/>
      <dgm:spPr/>
    </dgm:pt>
  </dgm:ptLst>
  <dgm:cxnLst>
    <dgm:cxn modelId="{E0E0E002-9319-496C-9034-AF56293E4882}" srcId="{C8FC0B86-AA5F-47CA-AD94-DA0B230143DF}" destId="{F61BF0D8-8170-4BDF-A81C-C17C607DF52F}" srcOrd="3" destOrd="0" parTransId="{5F30356C-0F91-43E8-85C3-2C2DF905D568}" sibTransId="{7612E67B-3D6B-4E7E-A697-DC33891CE5C4}"/>
    <dgm:cxn modelId="{0BA32F08-71EE-4E69-8FED-8229AE90C01B}" srcId="{F61BF0D8-8170-4BDF-A81C-C17C607DF52F}" destId="{1E2655D4-F876-4998-B8B5-044C7E8BEBCB}" srcOrd="0" destOrd="0" parTransId="{92160216-0619-4171-A887-5EFBFD2F1861}" sibTransId="{722A0FEE-36AD-4C56-AF0C-6453196D5DF5}"/>
    <dgm:cxn modelId="{3522B811-A4F3-4A30-9AD0-C6B80E321EBF}" type="presOf" srcId="{09445D6E-DDBE-432D-931F-29647DEC3617}" destId="{213ADD48-BCDA-4711-A08D-A80F40D41F16}" srcOrd="0" destOrd="0" presId="urn:microsoft.com/office/officeart/2024/layout/BulletTimeline#1"/>
    <dgm:cxn modelId="{6D2BFA19-2D16-470B-9192-932F414BD757}" srcId="{C8FC0B86-AA5F-47CA-AD94-DA0B230143DF}" destId="{ED410C54-CC68-4984-ACE8-1FE600BB0586}" srcOrd="5" destOrd="0" parTransId="{1E040BC3-FECC-4691-812E-CBE573EB0630}" sibTransId="{69F315BD-9C36-4462-B121-C1347055C68B}"/>
    <dgm:cxn modelId="{4097041D-958D-4981-8BDE-CDD7898CB5FE}" type="presOf" srcId="{D8349F02-0D6F-43DD-A25E-68D9F0CDEBDA}" destId="{3A1EB50F-FFF2-47FE-A1A5-6A1FBEA70E84}" srcOrd="0" destOrd="0" presId="urn:microsoft.com/office/officeart/2024/layout/BulletTimeline#1"/>
    <dgm:cxn modelId="{4EEEE635-B518-4DA7-8ABE-A7BD84E1F4B6}" srcId="{C8FC0B86-AA5F-47CA-AD94-DA0B230143DF}" destId="{79849443-9DB1-408A-9818-884F72E73564}" srcOrd="4" destOrd="0" parTransId="{6473AD60-2E92-422F-AD9B-A61D19B78FAD}" sibTransId="{A18E8EED-D52A-476B-BD58-24B42BB9B725}"/>
    <dgm:cxn modelId="{120EB65D-0472-4EC4-A619-A75ACE2B4033}" type="presOf" srcId="{F5C2BA56-75B2-4FFB-8395-FDA1581F144B}" destId="{C822A056-EA0B-4224-B5A6-C17826E0AB1D}" srcOrd="0" destOrd="0" presId="urn:microsoft.com/office/officeart/2024/layout/BulletTimeline#1"/>
    <dgm:cxn modelId="{7C297145-2B3C-4D09-ABEB-E1E79894A1C3}" type="presOf" srcId="{ED410C54-CC68-4984-ACE8-1FE600BB0586}" destId="{EA5B39B1-A13E-428E-AB1E-6695A41AB613}" srcOrd="0" destOrd="0" presId="urn:microsoft.com/office/officeart/2024/layout/BulletTimeline#1"/>
    <dgm:cxn modelId="{5D2A234A-EF22-41C5-9EA3-670E1ADE74E7}" srcId="{F55C921D-812F-4E3E-8038-907665851E5A}" destId="{334E5746-C054-4C14-B157-23EE3A1021D3}" srcOrd="0" destOrd="0" parTransId="{8E033F65-06A8-42C8-AC2C-984F797C9B53}" sibTransId="{BDC6A021-C2D7-4A86-8EC8-BD8CC0A702EA}"/>
    <dgm:cxn modelId="{4141DC4C-F5B3-4B14-80CB-2B2886BB5448}" type="presOf" srcId="{CEBF2F6E-C278-40A9-85B9-F7F68C4503EA}" destId="{CAB6D5AA-8C01-4C19-9350-D1BC8436B194}" srcOrd="0" destOrd="0" presId="urn:microsoft.com/office/officeart/2024/layout/BulletTimeline#1"/>
    <dgm:cxn modelId="{13E3C071-64CB-4A60-8205-5E7A17B8AD62}" type="presOf" srcId="{F55C921D-812F-4E3E-8038-907665851E5A}" destId="{4C6DF1A4-4CFC-4DA8-A4EC-E42C33D28515}" srcOrd="0" destOrd="0" presId="urn:microsoft.com/office/officeart/2024/layout/BulletTimeline#1"/>
    <dgm:cxn modelId="{B15E3B54-FEF4-4607-9DAE-01BE92AC286D}" srcId="{C8FC0B86-AA5F-47CA-AD94-DA0B230143DF}" destId="{F55C921D-812F-4E3E-8038-907665851E5A}" srcOrd="0" destOrd="0" parTransId="{AB186AD1-C13A-4AD4-80EB-5DE1439A4217}" sibTransId="{178C4ECA-9C9C-4C5B-93C3-7CE5CCB1CCED}"/>
    <dgm:cxn modelId="{DDB86875-C39C-4554-8456-7CE892FA2F21}" type="presOf" srcId="{79849443-9DB1-408A-9818-884F72E73564}" destId="{4708C630-1BFE-47A8-A5F2-9B94109E2AA9}" srcOrd="0" destOrd="0" presId="urn:microsoft.com/office/officeart/2024/layout/BulletTimeline#1"/>
    <dgm:cxn modelId="{89BCAF78-4980-4E6F-99D6-69B9502D9ED9}" srcId="{F5C2BA56-75B2-4FFB-8395-FDA1581F144B}" destId="{09445D6E-DDBE-432D-931F-29647DEC3617}" srcOrd="0" destOrd="0" parTransId="{E63D326D-072A-4A78-92B2-52671C9CD002}" sibTransId="{8451E0BA-175A-40C5-8880-17B4D7A45A93}"/>
    <dgm:cxn modelId="{E48F5A82-A157-4534-B4EA-3D482089D999}" srcId="{C8FC0B86-AA5F-47CA-AD94-DA0B230143DF}" destId="{D8349F02-0D6F-43DD-A25E-68D9F0CDEBDA}" srcOrd="1" destOrd="0" parTransId="{301228C1-5D89-4FC6-BF9A-9D66AE5A2F03}" sibTransId="{E00139AF-46D9-44AE-B4C9-93B705B71ADF}"/>
    <dgm:cxn modelId="{FCC0BD93-E58E-4E35-8CBC-262A0AC0E089}" srcId="{79849443-9DB1-408A-9818-884F72E73564}" destId="{CEBF2F6E-C278-40A9-85B9-F7F68C4503EA}" srcOrd="0" destOrd="0" parTransId="{D8094C47-3FCC-41F1-A060-F016A56DDBBC}" sibTransId="{985350A2-01E2-4662-9B6D-E03AEE79B54F}"/>
    <dgm:cxn modelId="{65D3B29E-1F7C-4B16-AF6F-37FB719AFF60}" srcId="{ED410C54-CC68-4984-ACE8-1FE600BB0586}" destId="{52CBC435-F052-44C7-B4DB-D683A52DC55F}" srcOrd="0" destOrd="0" parTransId="{0111A735-B25A-400E-8383-A1540C393CD7}" sibTransId="{AD7E8EC7-2271-41DB-9DFE-4593D31AA297}"/>
    <dgm:cxn modelId="{82C2AFA5-8F1C-4A46-BC03-B6590388F4BF}" type="presOf" srcId="{8B397563-884C-4E8B-AC2A-986C1E37286D}" destId="{7E105791-66C0-4B3A-89E9-A9E5593F7B33}" srcOrd="0" destOrd="0" presId="urn:microsoft.com/office/officeart/2024/layout/BulletTimeline#1"/>
    <dgm:cxn modelId="{4BE659A9-01C9-4A6A-866B-F55448A3F357}" type="presOf" srcId="{334E5746-C054-4C14-B157-23EE3A1021D3}" destId="{7C0E6424-685E-443C-9BA7-DCBE1ADC4766}" srcOrd="0" destOrd="0" presId="urn:microsoft.com/office/officeart/2024/layout/BulletTimeline#1"/>
    <dgm:cxn modelId="{A6B74EB1-7EE4-4C86-8EB7-49A192518FC6}" type="presOf" srcId="{C8FC0B86-AA5F-47CA-AD94-DA0B230143DF}" destId="{5CF210D6-9B17-4455-B9D5-945021460487}" srcOrd="0" destOrd="0" presId="urn:microsoft.com/office/officeart/2024/layout/BulletTimeline#1"/>
    <dgm:cxn modelId="{441710B2-B464-4142-A8E1-684A8955413E}" srcId="{C8FC0B86-AA5F-47CA-AD94-DA0B230143DF}" destId="{F5C2BA56-75B2-4FFB-8395-FDA1581F144B}" srcOrd="2" destOrd="0" parTransId="{5ADB5A62-9CCD-4490-A25A-87A4790038B6}" sibTransId="{61DE4834-ED24-4CDA-B04A-D13F6D8BE0A0}"/>
    <dgm:cxn modelId="{CACAA8CD-CC1F-48D7-A4BA-4F7D86579095}" type="presOf" srcId="{1E2655D4-F876-4998-B8B5-044C7E8BEBCB}" destId="{07590768-9C15-4561-B15D-EB1E2696BB4C}" srcOrd="0" destOrd="0" presId="urn:microsoft.com/office/officeart/2024/layout/BulletTimeline#1"/>
    <dgm:cxn modelId="{8849EBD9-1775-43AC-99D8-0496CFBD3961}" type="presOf" srcId="{52CBC435-F052-44C7-B4DB-D683A52DC55F}" destId="{331009E1-8F9A-4CA2-9C85-B8596228ABB6}" srcOrd="0" destOrd="0" presId="urn:microsoft.com/office/officeart/2024/layout/BulletTimeline#1"/>
    <dgm:cxn modelId="{8525EFE3-EBC1-4271-A42A-A02A6A48CF60}" srcId="{D8349F02-0D6F-43DD-A25E-68D9F0CDEBDA}" destId="{8B397563-884C-4E8B-AC2A-986C1E37286D}" srcOrd="0" destOrd="0" parTransId="{22A1E856-639A-4DA0-A211-3450115CC54F}" sibTransId="{0B0E43BC-78D7-43EE-969B-08BE069952ED}"/>
    <dgm:cxn modelId="{92248EE5-5904-4123-A6BE-3E29FDD7AD39}" type="presOf" srcId="{F61BF0D8-8170-4BDF-A81C-C17C607DF52F}" destId="{077958FE-9A3A-48B0-862B-30BAF9E3C509}" srcOrd="0" destOrd="0" presId="urn:microsoft.com/office/officeart/2024/layout/BulletTimeline#1"/>
    <dgm:cxn modelId="{6B1CD31B-85B9-42FB-B5D9-A57A8C86A3D3}" type="presParOf" srcId="{5CF210D6-9B17-4455-B9D5-945021460487}" destId="{1A17FEB2-FEA6-4678-B2A7-35B6C2D48EAA}" srcOrd="0" destOrd="0" presId="urn:microsoft.com/office/officeart/2024/layout/BulletTimeline#1"/>
    <dgm:cxn modelId="{8030EEB1-973F-4AE4-8FDA-C4FBA1B06E9C}" type="presParOf" srcId="{1A17FEB2-FEA6-4678-B2A7-35B6C2D48EAA}" destId="{E7BF831F-8387-459A-A0CC-BE1C2DAB3E6D}" srcOrd="0" destOrd="0" presId="urn:microsoft.com/office/officeart/2024/layout/BulletTimeline#1"/>
    <dgm:cxn modelId="{CEA31C84-8521-4036-AF84-EAD63743C4F0}" type="presParOf" srcId="{1A17FEB2-FEA6-4678-B2A7-35B6C2D48EAA}" destId="{038258CB-5BE9-4FD6-BCB1-274A3853397D}" srcOrd="1" destOrd="0" presId="urn:microsoft.com/office/officeart/2024/layout/BulletTimeline#1"/>
    <dgm:cxn modelId="{B850A7B6-E7CF-472F-84FF-C869A1F6ED10}" type="presParOf" srcId="{5CF210D6-9B17-4455-B9D5-945021460487}" destId="{B09A2E6A-A844-436D-BF2B-AE5C4739E155}" srcOrd="1" destOrd="0" presId="urn:microsoft.com/office/officeart/2024/layout/BulletTimeline#1"/>
    <dgm:cxn modelId="{94E643EB-C4CF-4E92-8914-C3C394D04407}" type="presParOf" srcId="{B09A2E6A-A844-436D-BF2B-AE5C4739E155}" destId="{6226FAB6-20A1-4D23-BED2-E443E2BCDF77}" srcOrd="0" destOrd="0" presId="urn:microsoft.com/office/officeart/2024/layout/BulletTimeline#1"/>
    <dgm:cxn modelId="{ACE959BA-B458-4BBF-9311-3DF2E54ED520}" type="presParOf" srcId="{6226FAB6-20A1-4D23-BED2-E443E2BCDF77}" destId="{3761507B-7A49-4063-BB1C-58BFDB79315A}" srcOrd="0" destOrd="0" presId="urn:microsoft.com/office/officeart/2024/layout/BulletTimeline#1"/>
    <dgm:cxn modelId="{8C24CDA3-1732-4DDC-926D-E019B333A5FD}" type="presParOf" srcId="{3761507B-7A49-4063-BB1C-58BFDB79315A}" destId="{3E84ECA5-7A6C-495D-A14E-55E61F73AF15}" srcOrd="0" destOrd="0" presId="urn:microsoft.com/office/officeart/2024/layout/BulletTimeline#1"/>
    <dgm:cxn modelId="{5277A264-A975-4113-9EDF-0FAECAEE0FDB}" type="presParOf" srcId="{3761507B-7A49-4063-BB1C-58BFDB79315A}" destId="{084FA66A-DA6D-4A3B-B40D-E52077D56AE7}" srcOrd="1" destOrd="0" presId="urn:microsoft.com/office/officeart/2024/layout/BulletTimeline#1"/>
    <dgm:cxn modelId="{E0752FC2-A28D-4197-B088-875C4FE6D503}" type="presParOf" srcId="{6226FAB6-20A1-4D23-BED2-E443E2BCDF77}" destId="{7C0E6424-685E-443C-9BA7-DCBE1ADC4766}" srcOrd="1" destOrd="0" presId="urn:microsoft.com/office/officeart/2024/layout/BulletTimeline#1"/>
    <dgm:cxn modelId="{4B6CA821-FFEB-4A93-9E5F-CDA8B97DB492}" type="presParOf" srcId="{6226FAB6-20A1-4D23-BED2-E443E2BCDF77}" destId="{4C6DF1A4-4CFC-4DA8-A4EC-E42C33D28515}" srcOrd="2" destOrd="0" presId="urn:microsoft.com/office/officeart/2024/layout/BulletTimeline#1"/>
    <dgm:cxn modelId="{48D5F110-90A7-484D-81BF-7BFECC509F2D}" type="presParOf" srcId="{6226FAB6-20A1-4D23-BED2-E443E2BCDF77}" destId="{C4A3A3E4-0CB9-4599-9131-80306E5F657E}" srcOrd="3" destOrd="0" presId="urn:microsoft.com/office/officeart/2024/layout/BulletTimeline#1"/>
    <dgm:cxn modelId="{A9C31A05-A877-4E5F-8D86-42F0BB9C638E}" type="presParOf" srcId="{6226FAB6-20A1-4D23-BED2-E443E2BCDF77}" destId="{DA78C78B-C931-4564-9C51-0BCB23C4E727}" srcOrd="4" destOrd="0" presId="urn:microsoft.com/office/officeart/2024/layout/BulletTimeline#1"/>
    <dgm:cxn modelId="{59D8B828-A939-4266-B951-E16A6E58B61A}" type="presParOf" srcId="{DA78C78B-C931-4564-9C51-0BCB23C4E727}" destId="{49780134-49DC-41D3-B4A8-0BE125EF9FEA}" srcOrd="0" destOrd="0" presId="urn:microsoft.com/office/officeart/2024/layout/BulletTimeline#1"/>
    <dgm:cxn modelId="{E1F7D348-5608-45FF-BA2E-81AB0FD605AF}" type="presParOf" srcId="{6226FAB6-20A1-4D23-BED2-E443E2BCDF77}" destId="{076696A1-40F8-445C-9C6D-D50469994C4D}" srcOrd="5" destOrd="0" presId="urn:microsoft.com/office/officeart/2024/layout/BulletTimeline#1"/>
    <dgm:cxn modelId="{EFA47FA1-15ED-4418-88E8-D0E4563E6B0E}" type="presParOf" srcId="{B09A2E6A-A844-436D-BF2B-AE5C4739E155}" destId="{079D9868-98F6-4245-BD40-733858CE06F5}" srcOrd="1" destOrd="0" presId="urn:microsoft.com/office/officeart/2024/layout/BulletTimeline#1"/>
    <dgm:cxn modelId="{EB8F4697-1ECC-4470-AF12-7F77CA617133}" type="presParOf" srcId="{B09A2E6A-A844-436D-BF2B-AE5C4739E155}" destId="{8A48A49D-E3FE-4C01-BD21-443DF6D00200}" srcOrd="2" destOrd="0" presId="urn:microsoft.com/office/officeart/2024/layout/BulletTimeline#1"/>
    <dgm:cxn modelId="{509FF826-0FE5-4F3F-A0CA-8D2F463FE586}" type="presParOf" srcId="{8A48A49D-E3FE-4C01-BD21-443DF6D00200}" destId="{C704F8FD-5E04-4EA8-BDDF-A7D9298F286D}" srcOrd="0" destOrd="0" presId="urn:microsoft.com/office/officeart/2024/layout/BulletTimeline#1"/>
    <dgm:cxn modelId="{353ACB71-BBA3-4B07-B644-37C8838289B6}" type="presParOf" srcId="{C704F8FD-5E04-4EA8-BDDF-A7D9298F286D}" destId="{8FF098CC-7219-424F-BDE2-E69B99A233C8}" srcOrd="0" destOrd="0" presId="urn:microsoft.com/office/officeart/2024/layout/BulletTimeline#1"/>
    <dgm:cxn modelId="{EA244E12-F296-41D2-8D33-18CCF8F619C9}" type="presParOf" srcId="{C704F8FD-5E04-4EA8-BDDF-A7D9298F286D}" destId="{7DFA82A4-6E21-4C46-A082-12FA661B9776}" srcOrd="1" destOrd="0" presId="urn:microsoft.com/office/officeart/2024/layout/BulletTimeline#1"/>
    <dgm:cxn modelId="{EAE1BDB4-EE72-4CCC-B5CC-031870DB6759}" type="presParOf" srcId="{8A48A49D-E3FE-4C01-BD21-443DF6D00200}" destId="{7E105791-66C0-4B3A-89E9-A9E5593F7B33}" srcOrd="1" destOrd="0" presId="urn:microsoft.com/office/officeart/2024/layout/BulletTimeline#1"/>
    <dgm:cxn modelId="{C3C6A492-AE6F-4CB8-925C-6A19A7625C5D}" type="presParOf" srcId="{8A48A49D-E3FE-4C01-BD21-443DF6D00200}" destId="{3A1EB50F-FFF2-47FE-A1A5-6A1FBEA70E84}" srcOrd="2" destOrd="0" presId="urn:microsoft.com/office/officeart/2024/layout/BulletTimeline#1"/>
    <dgm:cxn modelId="{CBD21EBD-D019-49AB-A338-2D7EDFAA69FE}" type="presParOf" srcId="{8A48A49D-E3FE-4C01-BD21-443DF6D00200}" destId="{20B3E46E-3499-44CA-B4AE-B7CC0897D697}" srcOrd="3" destOrd="0" presId="urn:microsoft.com/office/officeart/2024/layout/BulletTimeline#1"/>
    <dgm:cxn modelId="{8BA3F47F-7F1B-4037-A0D1-7AFE66A63D40}" type="presParOf" srcId="{8A48A49D-E3FE-4C01-BD21-443DF6D00200}" destId="{6EFD9C96-D55A-4A1A-A3C9-2229E67BBE9E}" srcOrd="4" destOrd="0" presId="urn:microsoft.com/office/officeart/2024/layout/BulletTimeline#1"/>
    <dgm:cxn modelId="{ACAA0503-A45D-4835-8251-E8F5704D5719}" type="presParOf" srcId="{6EFD9C96-D55A-4A1A-A3C9-2229E67BBE9E}" destId="{89AFD626-0047-4AFD-A297-969534115004}" srcOrd="0" destOrd="0" presId="urn:microsoft.com/office/officeart/2024/layout/BulletTimeline#1"/>
    <dgm:cxn modelId="{824DA170-77B0-4BB6-A971-BA8319EC65F5}" type="presParOf" srcId="{8A48A49D-E3FE-4C01-BD21-443DF6D00200}" destId="{AA0420A2-361D-49C0-A76D-2BEB7CF1147A}" srcOrd="5" destOrd="0" presId="urn:microsoft.com/office/officeart/2024/layout/BulletTimeline#1"/>
    <dgm:cxn modelId="{52007EFB-045C-472C-8706-26C9B247EC94}" type="presParOf" srcId="{B09A2E6A-A844-436D-BF2B-AE5C4739E155}" destId="{6FA2061B-109F-4E31-9EEC-CEBBEB018839}" srcOrd="3" destOrd="0" presId="urn:microsoft.com/office/officeart/2024/layout/BulletTimeline#1"/>
    <dgm:cxn modelId="{3891B832-EF26-4D87-83F7-C202C27043FC}" type="presParOf" srcId="{B09A2E6A-A844-436D-BF2B-AE5C4739E155}" destId="{3F5464F8-B563-4D12-853A-0836564C4D16}" srcOrd="4" destOrd="0" presId="urn:microsoft.com/office/officeart/2024/layout/BulletTimeline#1"/>
    <dgm:cxn modelId="{A9585EF4-691A-4834-B6A1-A8AB93EF2E9D}" type="presParOf" srcId="{3F5464F8-B563-4D12-853A-0836564C4D16}" destId="{E46CB449-C74F-4232-8BF8-9B64D764312B}" srcOrd="0" destOrd="0" presId="urn:microsoft.com/office/officeart/2024/layout/BulletTimeline#1"/>
    <dgm:cxn modelId="{47087C6C-39E5-4475-83C8-ADFF43EB383C}" type="presParOf" srcId="{E46CB449-C74F-4232-8BF8-9B64D764312B}" destId="{943395E1-A0AC-42BF-B23D-920E86DA214E}" srcOrd="0" destOrd="0" presId="urn:microsoft.com/office/officeart/2024/layout/BulletTimeline#1"/>
    <dgm:cxn modelId="{21310E32-4759-438A-B5C4-55B7EA8025AC}" type="presParOf" srcId="{E46CB449-C74F-4232-8BF8-9B64D764312B}" destId="{56E7C0D4-34B7-44BB-AEE2-57ECF2331B5C}" srcOrd="1" destOrd="0" presId="urn:microsoft.com/office/officeart/2024/layout/BulletTimeline#1"/>
    <dgm:cxn modelId="{71CB4F33-3129-4F59-B3E2-922C28CDD5DB}" type="presParOf" srcId="{3F5464F8-B563-4D12-853A-0836564C4D16}" destId="{213ADD48-BCDA-4711-A08D-A80F40D41F16}" srcOrd="1" destOrd="0" presId="urn:microsoft.com/office/officeart/2024/layout/BulletTimeline#1"/>
    <dgm:cxn modelId="{EB572A04-B63E-4777-82AE-7FCF1E24E6AC}" type="presParOf" srcId="{3F5464F8-B563-4D12-853A-0836564C4D16}" destId="{C822A056-EA0B-4224-B5A6-C17826E0AB1D}" srcOrd="2" destOrd="0" presId="urn:microsoft.com/office/officeart/2024/layout/BulletTimeline#1"/>
    <dgm:cxn modelId="{DF68449C-7CD8-4E38-9122-DAF27CCC3850}" type="presParOf" srcId="{3F5464F8-B563-4D12-853A-0836564C4D16}" destId="{B45A374A-6BD1-4E88-88D8-62EA2C29632E}" srcOrd="3" destOrd="0" presId="urn:microsoft.com/office/officeart/2024/layout/BulletTimeline#1"/>
    <dgm:cxn modelId="{E825B2EE-74A6-4F37-95B5-9DF2DBA24AC1}" type="presParOf" srcId="{3F5464F8-B563-4D12-853A-0836564C4D16}" destId="{D6D97630-2BAF-434C-BB01-EB2520808B4D}" srcOrd="4" destOrd="0" presId="urn:microsoft.com/office/officeart/2024/layout/BulletTimeline#1"/>
    <dgm:cxn modelId="{9D464BA7-24ED-4880-89A3-29A21059C75F}" type="presParOf" srcId="{D6D97630-2BAF-434C-BB01-EB2520808B4D}" destId="{41982A40-E92D-4B60-A796-267849EDAB25}" srcOrd="0" destOrd="0" presId="urn:microsoft.com/office/officeart/2024/layout/BulletTimeline#1"/>
    <dgm:cxn modelId="{A434D58B-36B8-4E4E-9B8F-6623316FF952}" type="presParOf" srcId="{3F5464F8-B563-4D12-853A-0836564C4D16}" destId="{57DC4A06-7800-4C2B-BCAF-30084528AF16}" srcOrd="5" destOrd="0" presId="urn:microsoft.com/office/officeart/2024/layout/BulletTimeline#1"/>
    <dgm:cxn modelId="{43C672C1-4B72-4ECD-8DCA-59C896CAC47B}" type="presParOf" srcId="{B09A2E6A-A844-436D-BF2B-AE5C4739E155}" destId="{5BA44753-B794-471A-AD0E-61F233B65684}" srcOrd="5" destOrd="0" presId="urn:microsoft.com/office/officeart/2024/layout/BulletTimeline#1"/>
    <dgm:cxn modelId="{3F6E8CCD-9409-4A5D-A746-61B20821C564}" type="presParOf" srcId="{B09A2E6A-A844-436D-BF2B-AE5C4739E155}" destId="{E6971B72-3E3B-4010-A842-43CBAC70EC4B}" srcOrd="6" destOrd="0" presId="urn:microsoft.com/office/officeart/2024/layout/BulletTimeline#1"/>
    <dgm:cxn modelId="{04A7CDC2-5C7A-4557-872C-60FAECBA69C1}" type="presParOf" srcId="{E6971B72-3E3B-4010-A842-43CBAC70EC4B}" destId="{CC5D6334-DA6F-409E-915A-7E98C565C1E0}" srcOrd="0" destOrd="0" presId="urn:microsoft.com/office/officeart/2024/layout/BulletTimeline#1"/>
    <dgm:cxn modelId="{3EA8ECE8-CFD0-42EF-83BC-D363994EDDDA}" type="presParOf" srcId="{CC5D6334-DA6F-409E-915A-7E98C565C1E0}" destId="{D44BEBB5-FF27-4E28-B4A0-BEA1F9B13A5C}" srcOrd="0" destOrd="0" presId="urn:microsoft.com/office/officeart/2024/layout/BulletTimeline#1"/>
    <dgm:cxn modelId="{8EFCF88F-578B-463B-9C41-4256ECC9317F}" type="presParOf" srcId="{CC5D6334-DA6F-409E-915A-7E98C565C1E0}" destId="{BF5DED28-6D7C-461B-823B-5A3ACA4E6B5C}" srcOrd="1" destOrd="0" presId="urn:microsoft.com/office/officeart/2024/layout/BulletTimeline#1"/>
    <dgm:cxn modelId="{DB20ECC4-3DEA-42F2-AD90-35DBDCF478DF}" type="presParOf" srcId="{E6971B72-3E3B-4010-A842-43CBAC70EC4B}" destId="{07590768-9C15-4561-B15D-EB1E2696BB4C}" srcOrd="1" destOrd="0" presId="urn:microsoft.com/office/officeart/2024/layout/BulletTimeline#1"/>
    <dgm:cxn modelId="{FB2F60BB-EEFC-4BBD-8129-CFE634248FE6}" type="presParOf" srcId="{E6971B72-3E3B-4010-A842-43CBAC70EC4B}" destId="{077958FE-9A3A-48B0-862B-30BAF9E3C509}" srcOrd="2" destOrd="0" presId="urn:microsoft.com/office/officeart/2024/layout/BulletTimeline#1"/>
    <dgm:cxn modelId="{D8B3F9C2-86ED-4BF8-8593-7887D5D822C5}" type="presParOf" srcId="{E6971B72-3E3B-4010-A842-43CBAC70EC4B}" destId="{9A95BFFF-50EC-4C01-8912-36EE28746535}" srcOrd="3" destOrd="0" presId="urn:microsoft.com/office/officeart/2024/layout/BulletTimeline#1"/>
    <dgm:cxn modelId="{9F0E766B-40BE-4C29-9258-FFD387E07E16}" type="presParOf" srcId="{E6971B72-3E3B-4010-A842-43CBAC70EC4B}" destId="{25DC750B-E3AA-4000-A8E4-D893F65E8D0B}" srcOrd="4" destOrd="0" presId="urn:microsoft.com/office/officeart/2024/layout/BulletTimeline#1"/>
    <dgm:cxn modelId="{A5BE517A-FC1F-4B86-B333-CE19E0CD57A8}" type="presParOf" srcId="{25DC750B-E3AA-4000-A8E4-D893F65E8D0B}" destId="{C6314617-A677-4620-9837-22E3986AFBFF}" srcOrd="0" destOrd="0" presId="urn:microsoft.com/office/officeart/2024/layout/BulletTimeline#1"/>
    <dgm:cxn modelId="{C1300104-3F32-4123-A6F5-12E2DEA4F222}" type="presParOf" srcId="{E6971B72-3E3B-4010-A842-43CBAC70EC4B}" destId="{1AA0C88F-3C01-4447-9666-7306E41FE5CE}" srcOrd="5" destOrd="0" presId="urn:microsoft.com/office/officeart/2024/layout/BulletTimeline#1"/>
    <dgm:cxn modelId="{DDA650F4-1CD0-4567-AC52-08E024F8C23C}" type="presParOf" srcId="{B09A2E6A-A844-436D-BF2B-AE5C4739E155}" destId="{511A11D7-90C2-4757-A9D6-48EFDC5D0083}" srcOrd="7" destOrd="0" presId="urn:microsoft.com/office/officeart/2024/layout/BulletTimeline#1"/>
    <dgm:cxn modelId="{A46B234B-4318-4733-88C2-A04FA973D03B}" type="presParOf" srcId="{B09A2E6A-A844-436D-BF2B-AE5C4739E155}" destId="{4DE8F189-8D95-4386-820A-2627DD5C38C9}" srcOrd="8" destOrd="0" presId="urn:microsoft.com/office/officeart/2024/layout/BulletTimeline#1"/>
    <dgm:cxn modelId="{65BE5B30-CBD0-46C7-B5CA-ED92CDB33B8F}" type="presParOf" srcId="{4DE8F189-8D95-4386-820A-2627DD5C38C9}" destId="{1C3A971B-033C-4321-8DAC-59D6D4239B5B}" srcOrd="0" destOrd="0" presId="urn:microsoft.com/office/officeart/2024/layout/BulletTimeline#1"/>
    <dgm:cxn modelId="{A32E780A-92D1-4A24-B9FB-E31A9507D0B1}" type="presParOf" srcId="{1C3A971B-033C-4321-8DAC-59D6D4239B5B}" destId="{85F93F8F-B451-4462-BFD5-6B9E23C9ADC5}" srcOrd="0" destOrd="0" presId="urn:microsoft.com/office/officeart/2024/layout/BulletTimeline#1"/>
    <dgm:cxn modelId="{07E3E230-41B8-4133-AFA8-E4E0F48E2DB5}" type="presParOf" srcId="{1C3A971B-033C-4321-8DAC-59D6D4239B5B}" destId="{239D8CB4-C19F-480F-A662-10A31F5254DB}" srcOrd="1" destOrd="0" presId="urn:microsoft.com/office/officeart/2024/layout/BulletTimeline#1"/>
    <dgm:cxn modelId="{02C9285E-8F3F-4929-9CA0-9847DEA7ED56}" type="presParOf" srcId="{4DE8F189-8D95-4386-820A-2627DD5C38C9}" destId="{CAB6D5AA-8C01-4C19-9350-D1BC8436B194}" srcOrd="1" destOrd="0" presId="urn:microsoft.com/office/officeart/2024/layout/BulletTimeline#1"/>
    <dgm:cxn modelId="{7A40670D-F4BF-4E61-8B6F-FBF8ECE93988}" type="presParOf" srcId="{4DE8F189-8D95-4386-820A-2627DD5C38C9}" destId="{4708C630-1BFE-47A8-A5F2-9B94109E2AA9}" srcOrd="2" destOrd="0" presId="urn:microsoft.com/office/officeart/2024/layout/BulletTimeline#1"/>
    <dgm:cxn modelId="{43A7CB9A-CE0F-4184-B59E-037BD928465E}" type="presParOf" srcId="{4DE8F189-8D95-4386-820A-2627DD5C38C9}" destId="{F12233CC-5746-4043-AC77-3ADD092B4528}" srcOrd="3" destOrd="0" presId="urn:microsoft.com/office/officeart/2024/layout/BulletTimeline#1"/>
    <dgm:cxn modelId="{93F707C7-1A2E-4307-8C72-7ACCAD81AB40}" type="presParOf" srcId="{4DE8F189-8D95-4386-820A-2627DD5C38C9}" destId="{31C09DA8-0AD8-40F1-BF92-88CCA8E6A0B6}" srcOrd="4" destOrd="0" presId="urn:microsoft.com/office/officeart/2024/layout/BulletTimeline#1"/>
    <dgm:cxn modelId="{2FEC33ED-BB1D-4B53-92F6-960AE38EDD44}" type="presParOf" srcId="{31C09DA8-0AD8-40F1-BF92-88CCA8E6A0B6}" destId="{5E7E7B73-6AAC-44E5-A658-CB6D6B640679}" srcOrd="0" destOrd="0" presId="urn:microsoft.com/office/officeart/2024/layout/BulletTimeline#1"/>
    <dgm:cxn modelId="{CA24B6BF-EDCB-4EB0-9D55-E7AB71ADBCDF}" type="presParOf" srcId="{4DE8F189-8D95-4386-820A-2627DD5C38C9}" destId="{C96BB579-E16F-4E57-9F1A-813F05950157}" srcOrd="5" destOrd="0" presId="urn:microsoft.com/office/officeart/2024/layout/BulletTimeline#1"/>
    <dgm:cxn modelId="{8D78E9E2-F0B7-481D-AFB9-3F748297B39D}" type="presParOf" srcId="{B09A2E6A-A844-436D-BF2B-AE5C4739E155}" destId="{9751F6F1-C8E2-4FAF-B399-236FCE847272}" srcOrd="9" destOrd="0" presId="urn:microsoft.com/office/officeart/2024/layout/BulletTimeline#1"/>
    <dgm:cxn modelId="{91FAF689-467D-4B0A-9796-75EFA9442AF1}" type="presParOf" srcId="{B09A2E6A-A844-436D-BF2B-AE5C4739E155}" destId="{25F85B5A-CDA2-4624-A8CE-69FABE636EEC}" srcOrd="10" destOrd="0" presId="urn:microsoft.com/office/officeart/2024/layout/BulletTimeline#1"/>
    <dgm:cxn modelId="{71C5F4CC-4800-46D0-B1B1-2A229BE22176}" type="presParOf" srcId="{25F85B5A-CDA2-4624-A8CE-69FABE636EEC}" destId="{91C65EB3-9FC0-421D-B5D7-D4EA6DD939A7}" srcOrd="0" destOrd="0" presId="urn:microsoft.com/office/officeart/2024/layout/BulletTimeline#1"/>
    <dgm:cxn modelId="{61D7E15F-E9AC-44B6-9199-9DC252497EEA}" type="presParOf" srcId="{91C65EB3-9FC0-421D-B5D7-D4EA6DD939A7}" destId="{F3F5CB68-0A09-426C-BB7D-445A09E8AD78}" srcOrd="0" destOrd="0" presId="urn:microsoft.com/office/officeart/2024/layout/BulletTimeline#1"/>
    <dgm:cxn modelId="{17ABC924-F7FD-4A58-8895-4C5CA99B3639}" type="presParOf" srcId="{91C65EB3-9FC0-421D-B5D7-D4EA6DD939A7}" destId="{C64ED7FC-4D60-45BC-89D7-022E20312E74}" srcOrd="1" destOrd="0" presId="urn:microsoft.com/office/officeart/2024/layout/BulletTimeline#1"/>
    <dgm:cxn modelId="{ECF7F33B-B1BC-46CA-B303-6E8CD99C383D}" type="presParOf" srcId="{25F85B5A-CDA2-4624-A8CE-69FABE636EEC}" destId="{331009E1-8F9A-4CA2-9C85-B8596228ABB6}" srcOrd="1" destOrd="0" presId="urn:microsoft.com/office/officeart/2024/layout/BulletTimeline#1"/>
    <dgm:cxn modelId="{FA60A537-3A4A-4C98-88A0-99F79624B77E}" type="presParOf" srcId="{25F85B5A-CDA2-4624-A8CE-69FABE636EEC}" destId="{EA5B39B1-A13E-428E-AB1E-6695A41AB613}" srcOrd="2" destOrd="0" presId="urn:microsoft.com/office/officeart/2024/layout/BulletTimeline#1"/>
    <dgm:cxn modelId="{76338CD8-2E1A-4D46-A817-1F57E8A68BA3}" type="presParOf" srcId="{25F85B5A-CDA2-4624-A8CE-69FABE636EEC}" destId="{3C67A98E-9364-4AE2-8FC6-95F3281B5B55}" srcOrd="3" destOrd="0" presId="urn:microsoft.com/office/officeart/2024/layout/BulletTimeline#1"/>
    <dgm:cxn modelId="{CECA862F-233A-48C8-BD26-670D4C1B2F1E}" type="presParOf" srcId="{25F85B5A-CDA2-4624-A8CE-69FABE636EEC}" destId="{E52D5D3E-5753-43C3-B4F2-C87A65DE1BB8}" srcOrd="4" destOrd="0" presId="urn:microsoft.com/office/officeart/2024/layout/BulletTimeline#1"/>
    <dgm:cxn modelId="{749B7CCA-4A83-4E8C-97A4-3BC209BBDAAC}" type="presParOf" srcId="{E52D5D3E-5753-43C3-B4F2-C87A65DE1BB8}" destId="{CF45FFEB-45E9-44C6-87BA-5BCF291415DD}" srcOrd="0" destOrd="0" presId="urn:microsoft.com/office/officeart/2024/layout/BulletTimeline#1"/>
    <dgm:cxn modelId="{11239FC3-543D-4E6A-898A-CA80661AE34D}" type="presParOf" srcId="{25F85B5A-CDA2-4624-A8CE-69FABE636EEC}" destId="{3F4F1348-9FA1-49DD-A06A-853D8CC821D3}" srcOrd="5" destOrd="0" presId="urn:microsoft.com/office/officeart/2024/layout/BulletTimeline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BF831F-8387-459A-A0CC-BE1C2DAB3E6D}">
      <dsp:nvSpPr>
        <dsp:cNvPr id="0" name=""/>
        <dsp:cNvSpPr/>
      </dsp:nvSpPr>
      <dsp:spPr>
        <a:xfrm>
          <a:off x="0" y="1330128"/>
          <a:ext cx="12143232" cy="26871"/>
        </a:xfrm>
        <a:prstGeom prst="rect">
          <a:avLst/>
        </a:prstGeom>
        <a:gradFill rotWithShape="0">
          <a:gsLst>
            <a:gs pos="0">
              <a:schemeClr val="dk1">
                <a:tint val="76000"/>
              </a:schemeClr>
            </a:gs>
            <a:gs pos="100000">
              <a:schemeClr val="dk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8258CB-5BE9-4FD6-BCB1-274A3853397D}">
      <dsp:nvSpPr>
        <dsp:cNvPr id="0" name=""/>
        <dsp:cNvSpPr/>
      </dsp:nvSpPr>
      <dsp:spPr>
        <a:xfrm>
          <a:off x="12030772" y="1236078"/>
          <a:ext cx="161227" cy="214970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dk1">
                <a:tint val="76000"/>
              </a:schemeClr>
            </a:gs>
            <a:gs pos="100000">
              <a:schemeClr val="dk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0E6424-685E-443C-9BA7-DCBE1ADC4766}">
      <dsp:nvSpPr>
        <dsp:cNvPr id="0" name=""/>
        <dsp:cNvSpPr/>
      </dsp:nvSpPr>
      <dsp:spPr>
        <a:xfrm>
          <a:off x="366276" y="612665"/>
          <a:ext cx="2880657" cy="623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Started with Mundra Port, Gujarat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en-US" sz="1400" kern="1200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rPr>
            <a:t>Gujarat Adani Port Limited)</a:t>
          </a:r>
        </a:p>
      </dsp:txBody>
      <dsp:txXfrm>
        <a:off x="366276" y="612665"/>
        <a:ext cx="2880657" cy="623413"/>
      </dsp:txXfrm>
    </dsp:sp>
    <dsp:sp modelId="{4C6DF1A4-4CFC-4DA8-A4EC-E42C33D28515}">
      <dsp:nvSpPr>
        <dsp:cNvPr id="0" name=""/>
        <dsp:cNvSpPr/>
      </dsp:nvSpPr>
      <dsp:spPr>
        <a:xfrm>
          <a:off x="366276" y="290209"/>
          <a:ext cx="2880657" cy="322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1998</a:t>
          </a:r>
        </a:p>
      </dsp:txBody>
      <dsp:txXfrm>
        <a:off x="366276" y="290209"/>
        <a:ext cx="2880657" cy="322455"/>
      </dsp:txXfrm>
    </dsp:sp>
    <dsp:sp modelId="{C4A3A3E4-0CB9-4599-9131-80306E5F657E}">
      <dsp:nvSpPr>
        <dsp:cNvPr id="0" name=""/>
        <dsp:cNvSpPr/>
      </dsp:nvSpPr>
      <dsp:spPr>
        <a:xfrm>
          <a:off x="183551" y="268712"/>
          <a:ext cx="21497" cy="1074851"/>
        </a:xfrm>
        <a:prstGeom prst="rect">
          <a:avLst/>
        </a:prstGeom>
        <a:gradFill rotWithShape="0">
          <a:gsLst>
            <a:gs pos="0">
              <a:schemeClr val="dk1">
                <a:tint val="76000"/>
              </a:schemeClr>
            </a:gs>
            <a:gs pos="100000">
              <a:schemeClr val="dk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105791-66C0-4B3A-89E9-A9E5593F7B33}">
      <dsp:nvSpPr>
        <dsp:cNvPr id="0" name=""/>
        <dsp:cNvSpPr/>
      </dsp:nvSpPr>
      <dsp:spPr>
        <a:xfrm>
          <a:off x="2101612" y="1891738"/>
          <a:ext cx="2880657" cy="505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Expanded to India's east coast - </a:t>
          </a:r>
          <a:r>
            <a:rPr lang="en-US" sz="1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Dhamra</a:t>
          </a: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Krishnapatnam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01612" y="1891738"/>
        <a:ext cx="2880657" cy="505180"/>
      </dsp:txXfrm>
    </dsp:sp>
    <dsp:sp modelId="{3A1EB50F-FFF2-47FE-A1A5-6A1FBEA70E84}">
      <dsp:nvSpPr>
        <dsp:cNvPr id="0" name=""/>
        <dsp:cNvSpPr/>
      </dsp:nvSpPr>
      <dsp:spPr>
        <a:xfrm>
          <a:off x="2101612" y="1558534"/>
          <a:ext cx="2880657" cy="333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2010</a:t>
          </a:r>
        </a:p>
      </dsp:txBody>
      <dsp:txXfrm>
        <a:off x="2101612" y="1558534"/>
        <a:ext cx="2880657" cy="333203"/>
      </dsp:txXfrm>
    </dsp:sp>
    <dsp:sp modelId="{20B3E46E-3499-44CA-B4AE-B7CC0897D697}">
      <dsp:nvSpPr>
        <dsp:cNvPr id="0" name=""/>
        <dsp:cNvSpPr/>
      </dsp:nvSpPr>
      <dsp:spPr>
        <a:xfrm>
          <a:off x="1918887" y="1343564"/>
          <a:ext cx="21497" cy="1074851"/>
        </a:xfrm>
        <a:prstGeom prst="rect">
          <a:avLst/>
        </a:prstGeom>
        <a:gradFill rotWithShape="0">
          <a:gsLst>
            <a:gs pos="0">
              <a:schemeClr val="dk1">
                <a:tint val="76000"/>
              </a:schemeClr>
            </a:gs>
            <a:gs pos="100000">
              <a:schemeClr val="dk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780134-49DC-41D3-B4A8-0BE125EF9FEA}">
      <dsp:nvSpPr>
        <dsp:cNvPr id="0" name=""/>
        <dsp:cNvSpPr/>
      </dsp:nvSpPr>
      <dsp:spPr>
        <a:xfrm>
          <a:off x="138408" y="1287671"/>
          <a:ext cx="111784" cy="1117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AFD626-0047-4AFD-A297-969534115004}">
      <dsp:nvSpPr>
        <dsp:cNvPr id="0" name=""/>
        <dsp:cNvSpPr/>
      </dsp:nvSpPr>
      <dsp:spPr>
        <a:xfrm>
          <a:off x="1873744" y="1287671"/>
          <a:ext cx="111784" cy="1117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3ADD48-BCDA-4711-A08D-A80F40D41F16}">
      <dsp:nvSpPr>
        <dsp:cNvPr id="0" name=""/>
        <dsp:cNvSpPr/>
      </dsp:nvSpPr>
      <dsp:spPr>
        <a:xfrm>
          <a:off x="3836948" y="612665"/>
          <a:ext cx="2880657" cy="623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rPr>
            <a:t>changed its name to Adani Ports and Special Economic Zone Limited (APSEZ)</a:t>
          </a:r>
        </a:p>
      </dsp:txBody>
      <dsp:txXfrm>
        <a:off x="3836948" y="612665"/>
        <a:ext cx="2880657" cy="623413"/>
      </dsp:txXfrm>
    </dsp:sp>
    <dsp:sp modelId="{C822A056-EA0B-4224-B5A6-C17826E0AB1D}">
      <dsp:nvSpPr>
        <dsp:cNvPr id="0" name=""/>
        <dsp:cNvSpPr/>
      </dsp:nvSpPr>
      <dsp:spPr>
        <a:xfrm>
          <a:off x="3836948" y="290209"/>
          <a:ext cx="2880657" cy="322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2012</a:t>
          </a:r>
        </a:p>
      </dsp:txBody>
      <dsp:txXfrm>
        <a:off x="3836948" y="290209"/>
        <a:ext cx="2880657" cy="322455"/>
      </dsp:txXfrm>
    </dsp:sp>
    <dsp:sp modelId="{B45A374A-6BD1-4E88-88D8-62EA2C29632E}">
      <dsp:nvSpPr>
        <dsp:cNvPr id="0" name=""/>
        <dsp:cNvSpPr/>
      </dsp:nvSpPr>
      <dsp:spPr>
        <a:xfrm>
          <a:off x="3654223" y="268712"/>
          <a:ext cx="21497" cy="1074851"/>
        </a:xfrm>
        <a:prstGeom prst="rect">
          <a:avLst/>
        </a:prstGeom>
        <a:gradFill rotWithShape="0">
          <a:gsLst>
            <a:gs pos="0">
              <a:schemeClr val="dk1">
                <a:tint val="76000"/>
              </a:schemeClr>
            </a:gs>
            <a:gs pos="100000">
              <a:schemeClr val="dk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590768-9C15-4561-B15D-EB1E2696BB4C}">
      <dsp:nvSpPr>
        <dsp:cNvPr id="0" name=""/>
        <dsp:cNvSpPr/>
      </dsp:nvSpPr>
      <dsp:spPr>
        <a:xfrm>
          <a:off x="5572284" y="1891738"/>
          <a:ext cx="2880657" cy="505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APSEZ became the first Indian port operator to record a cargo throughput milestone of 200 Million Metric </a:t>
          </a:r>
          <a:r>
            <a:rPr lang="en-US" sz="1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Tonnes</a:t>
          </a: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sp:txBody>
      <dsp:txXfrm>
        <a:off x="5572284" y="1891738"/>
        <a:ext cx="2880657" cy="505180"/>
      </dsp:txXfrm>
    </dsp:sp>
    <dsp:sp modelId="{077958FE-9A3A-48B0-862B-30BAF9E3C509}">
      <dsp:nvSpPr>
        <dsp:cNvPr id="0" name=""/>
        <dsp:cNvSpPr/>
      </dsp:nvSpPr>
      <dsp:spPr>
        <a:xfrm>
          <a:off x="5572284" y="1558534"/>
          <a:ext cx="2880657" cy="333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2019</a:t>
          </a:r>
        </a:p>
      </dsp:txBody>
      <dsp:txXfrm>
        <a:off x="5572284" y="1558534"/>
        <a:ext cx="2880657" cy="333203"/>
      </dsp:txXfrm>
    </dsp:sp>
    <dsp:sp modelId="{9A95BFFF-50EC-4C01-8912-36EE28746535}">
      <dsp:nvSpPr>
        <dsp:cNvPr id="0" name=""/>
        <dsp:cNvSpPr/>
      </dsp:nvSpPr>
      <dsp:spPr>
        <a:xfrm>
          <a:off x="5389559" y="1343564"/>
          <a:ext cx="21497" cy="1074851"/>
        </a:xfrm>
        <a:prstGeom prst="rect">
          <a:avLst/>
        </a:prstGeom>
        <a:gradFill rotWithShape="0">
          <a:gsLst>
            <a:gs pos="0">
              <a:schemeClr val="dk1">
                <a:tint val="76000"/>
              </a:schemeClr>
            </a:gs>
            <a:gs pos="100000">
              <a:schemeClr val="dk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982A40-E92D-4B60-A796-267849EDAB25}">
      <dsp:nvSpPr>
        <dsp:cNvPr id="0" name=""/>
        <dsp:cNvSpPr/>
      </dsp:nvSpPr>
      <dsp:spPr>
        <a:xfrm>
          <a:off x="3609080" y="1287671"/>
          <a:ext cx="111784" cy="1117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314617-A677-4620-9837-22E3986AFBFF}">
      <dsp:nvSpPr>
        <dsp:cNvPr id="0" name=""/>
        <dsp:cNvSpPr/>
      </dsp:nvSpPr>
      <dsp:spPr>
        <a:xfrm>
          <a:off x="5344415" y="1287671"/>
          <a:ext cx="111784" cy="1117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B6D5AA-8C01-4C19-9350-D1BC8436B194}">
      <dsp:nvSpPr>
        <dsp:cNvPr id="0" name=""/>
        <dsp:cNvSpPr/>
      </dsp:nvSpPr>
      <dsp:spPr>
        <a:xfrm>
          <a:off x="7307620" y="612665"/>
          <a:ext cx="2880657" cy="623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Went international - Israel, Tanzania, Sri Lanka, Australia</a:t>
          </a:r>
        </a:p>
      </dsp:txBody>
      <dsp:txXfrm>
        <a:off x="7307620" y="612665"/>
        <a:ext cx="2880657" cy="623413"/>
      </dsp:txXfrm>
    </dsp:sp>
    <dsp:sp modelId="{4708C630-1BFE-47A8-A5F2-9B94109E2AA9}">
      <dsp:nvSpPr>
        <dsp:cNvPr id="0" name=""/>
        <dsp:cNvSpPr/>
      </dsp:nvSpPr>
      <dsp:spPr>
        <a:xfrm>
          <a:off x="7307620" y="290209"/>
          <a:ext cx="2880657" cy="322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2020</a:t>
          </a:r>
        </a:p>
      </dsp:txBody>
      <dsp:txXfrm>
        <a:off x="7307620" y="290209"/>
        <a:ext cx="2880657" cy="322455"/>
      </dsp:txXfrm>
    </dsp:sp>
    <dsp:sp modelId="{F12233CC-5746-4043-AC77-3ADD092B4528}">
      <dsp:nvSpPr>
        <dsp:cNvPr id="0" name=""/>
        <dsp:cNvSpPr/>
      </dsp:nvSpPr>
      <dsp:spPr>
        <a:xfrm>
          <a:off x="7124895" y="268712"/>
          <a:ext cx="21497" cy="1074851"/>
        </a:xfrm>
        <a:prstGeom prst="rect">
          <a:avLst/>
        </a:prstGeom>
        <a:gradFill rotWithShape="0">
          <a:gsLst>
            <a:gs pos="0">
              <a:schemeClr val="dk1">
                <a:tint val="76000"/>
              </a:schemeClr>
            </a:gs>
            <a:gs pos="100000">
              <a:schemeClr val="dk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1009E1-8F9A-4CA2-9C85-B8596228ABB6}">
      <dsp:nvSpPr>
        <dsp:cNvPr id="0" name=""/>
        <dsp:cNvSpPr/>
      </dsp:nvSpPr>
      <dsp:spPr>
        <a:xfrm>
          <a:off x="8913571" y="1891738"/>
          <a:ext cx="3139427" cy="505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Vizhinjam</a:t>
          </a: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- MSC deal +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S&amp;P BBB upgrade</a:t>
          </a:r>
        </a:p>
      </dsp:txBody>
      <dsp:txXfrm>
        <a:off x="8913571" y="1891738"/>
        <a:ext cx="3139427" cy="505180"/>
      </dsp:txXfrm>
    </dsp:sp>
    <dsp:sp modelId="{EA5B39B1-A13E-428E-AB1E-6695A41AB613}">
      <dsp:nvSpPr>
        <dsp:cNvPr id="0" name=""/>
        <dsp:cNvSpPr/>
      </dsp:nvSpPr>
      <dsp:spPr>
        <a:xfrm>
          <a:off x="8913571" y="1558534"/>
          <a:ext cx="3139427" cy="333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Jun 2026</a:t>
          </a:r>
        </a:p>
      </dsp:txBody>
      <dsp:txXfrm>
        <a:off x="8913571" y="1558534"/>
        <a:ext cx="3139427" cy="333203"/>
      </dsp:txXfrm>
    </dsp:sp>
    <dsp:sp modelId="{3C67A98E-9364-4AE2-8FC6-95F3281B5B55}">
      <dsp:nvSpPr>
        <dsp:cNvPr id="0" name=""/>
        <dsp:cNvSpPr/>
      </dsp:nvSpPr>
      <dsp:spPr>
        <a:xfrm>
          <a:off x="8860231" y="1343564"/>
          <a:ext cx="21497" cy="1074851"/>
        </a:xfrm>
        <a:prstGeom prst="rect">
          <a:avLst/>
        </a:prstGeom>
        <a:gradFill rotWithShape="0">
          <a:gsLst>
            <a:gs pos="0">
              <a:schemeClr val="dk1">
                <a:tint val="76000"/>
              </a:schemeClr>
            </a:gs>
            <a:gs pos="100000">
              <a:schemeClr val="dk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7E7B73-6AAC-44E5-A658-CB6D6B640679}">
      <dsp:nvSpPr>
        <dsp:cNvPr id="0" name=""/>
        <dsp:cNvSpPr/>
      </dsp:nvSpPr>
      <dsp:spPr>
        <a:xfrm>
          <a:off x="7079751" y="1287671"/>
          <a:ext cx="111784" cy="1117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5FFEB-45E9-44C6-87BA-5BCF291415DD}">
      <dsp:nvSpPr>
        <dsp:cNvPr id="0" name=""/>
        <dsp:cNvSpPr/>
      </dsp:nvSpPr>
      <dsp:spPr>
        <a:xfrm>
          <a:off x="8815087" y="1287671"/>
          <a:ext cx="111784" cy="1117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BulletTimeline#1">
  <dgm:title val=""/>
  <dgm:desc val=""/>
  <dgm:catLst>
    <dgm:cat type="process" pri="7450"/>
    <dgm:cat type="timeline" pri="100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gradFill rotWithShape="0">
                          <a:gsLst>
                            <a:gs pos="0">
                              <a:schemeClr val="accent1">
                                <a:tint val="76000"/>
                              </a:schemeClr>
                            </a:gs>
                            <a:gs pos="100000">
                              <a:schemeClr val="accent1">
                                <a:tint val="76000"/>
                              </a:schemeClr>
                            </a:gs>
                          </a:gsLst>
                          <a:lin ang="0" scaled="0"/>
                        </a:gradFill>
                      </dgm1612:spPr>
                    </a:ext>
                  </dgm:extLst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node1NoLn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gradFill rotWithShape="0">
                          <a:gsLst>
                            <a:gs pos="0">
                              <a:schemeClr val="accent1">
                                <a:tint val="76000"/>
                              </a:schemeClr>
                            </a:gs>
                            <a:gs pos="100000">
                              <a:schemeClr val="accent1">
                                <a:tint val="76000"/>
                              </a:schemeClr>
                            </a:gs>
                          </a:gsLst>
                          <a:lin ang="0" scaled="0"/>
                        </a:gradFill>
                      </dgm1612:spPr>
                    </a:ext>
                  </dgm:extLst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node1NoLn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F1A65B-FDE1-49DC-A129-377ED796C20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B3C86-5F7C-4D72-80E3-B5CF11A2B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550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B3C86-5F7C-4D72-80E3-B5CF11A2BA9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05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B3C86-5F7C-4D72-80E3-B5CF11A2BA9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004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B3C86-5F7C-4D72-80E3-B5CF11A2BA9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519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B3C86-5F7C-4D72-80E3-B5CF11A2BA9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06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B3C86-5F7C-4D72-80E3-B5CF11A2BA9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409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B3C86-5F7C-4D72-80E3-B5CF11A2BA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230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C42B4-055F-CA30-E281-E3E7A0AD6A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53363-306D-08D2-6BE5-70EC72847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91087-078A-99F3-E155-1B0F4639C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E1A51-31CD-4194-99A2-B50A597F6B1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89B96-F003-F936-1DBD-CD591BD71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C19CB-31A4-3A6F-94E0-3EBA5705F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BDA26-63FE-401E-B06D-E3A4CC991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30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7CA72-80B8-727F-3533-3E76C9BD8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FFD71-E763-2BBC-BBE3-24CB2C9B4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20D51-21F7-9F60-2335-91188273B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E1A51-31CD-4194-99A2-B50A597F6B1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CB57B-DBCD-099C-829D-225722897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52885-F32A-FF81-90F8-FEC79EF0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BDA26-63FE-401E-B06D-E3A4CC991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840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ABB1A-B96B-BE9F-63DF-868531197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1417A-2C02-163D-5B77-22D0BCFDA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AEF8E-B403-89FB-8600-85EFCB4D7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E1A51-31CD-4194-99A2-B50A597F6B1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56BED-9891-E3C5-DB0D-3BB1492F0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5FBB3-6962-56D2-9664-B044683D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BDA26-63FE-401E-B06D-E3A4CC991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90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10CDB-C395-F4F5-0EA5-4455199A4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E4373-9B83-8C06-20CD-DA0BBC8F3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DA583-F884-46ED-ECB1-B3145613C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65001-F3E0-808A-B92A-8095A9EDF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E1A51-31CD-4194-99A2-B50A597F6B1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72037-CA57-E41A-2C05-3D72BF8EB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54474-E441-8B54-0227-064C520F2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BDA26-63FE-401E-B06D-E3A4CC991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78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22A74-A952-1254-F449-DB62F10B6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01A82-4556-5E49-C0C0-5FAEC186A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D93D04-BFD7-B5F7-E154-4E8769B51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FF3E79-9260-6428-A0C4-1E7B9E3E45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7B2525-3713-AF57-5924-754EBDCE2A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094C2B-BA85-613D-C590-5E331C345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E1A51-31CD-4194-99A2-B50A597F6B1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586593-319F-6548-42D8-DF7EDFFB7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8FC13E-F576-F8DF-F5EB-0938E40A4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BDA26-63FE-401E-B06D-E3A4CC991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140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A430D-47CB-9F81-340D-3CA11774A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D8FE23-CB6D-93BF-CA32-3CD48863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E1A51-31CD-4194-99A2-B50A597F6B1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C4AC4-49C1-EF02-EFA5-D496546E6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B85AE4-4DCF-F282-FE06-1691D81E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BDA26-63FE-401E-B06D-E3A4CC991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3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5C1F61-987E-2C3B-4FC2-7DE1AD20A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E1A51-31CD-4194-99A2-B50A597F6B1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D6EC0D-6777-338C-FA12-AF427EDB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344CF-6C0C-1427-55E1-7938E0D33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BDA26-63FE-401E-B06D-E3A4CC991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95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EABC0-F232-351A-719C-BAF10AD6F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0B2F0-66D8-51C4-4191-69A366B0C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62765-92E3-75EE-205D-96398538E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EFF216-D131-37A3-C942-B47BE171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E1A51-31CD-4194-99A2-B50A597F6B1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292B27-3101-9840-ED88-93FF321A5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78917-ACFE-359D-F52A-8F02D4B74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BDA26-63FE-401E-B06D-E3A4CC991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438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58614-7884-983F-532F-5ED659F08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A2FCA2-F71F-FE62-4B7E-2CE5C4D62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B51E91-F657-51A2-ACFC-5897392C3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BC637-C371-AC89-6EDA-0895D2E76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E1A51-31CD-4194-99A2-B50A597F6B1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BE012-5ADA-ED63-1626-A7438C04B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0CB17-1BD9-9747-65D0-A8328B923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BDA26-63FE-401E-B06D-E3A4CC991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69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C5025-933A-C834-0CCA-CF98AE38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395692-3B4D-269E-DF92-0D29211EF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4564-54F9-5FDE-E8E4-E6CF4B4D8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E1A51-31CD-4194-99A2-B50A597F6B1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416C6-B10D-569E-3865-6898F7EC4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D4A1A-8328-A4C7-3310-C3EB8D804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BDA26-63FE-401E-B06D-E3A4CC991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489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684126-1AAF-D2A8-0438-F9318E6D71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EBF94C-F1B5-6E75-B369-75D704DAB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3E003-2B9F-F6A4-61A3-F7863C6C0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E1A51-31CD-4194-99A2-B50A597F6B1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C39E4-3E1D-9EF8-8AFB-BA7657BEB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49FB0-B5F9-E2A2-770A-3E8A8B034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BDA26-63FE-401E-B06D-E3A4CC991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40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DD2907-4173-76AF-AB8C-117A4B1A0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BCA1F-2734-C80D-47CA-9EDA33F50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61BD4-B922-27CB-FF48-29EC87A98C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FE1A51-31CD-4194-99A2-B50A597F6B1A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21990-5659-A8A2-BDBB-C2E9BD6DA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27D82-B5F6-8BCD-5D8F-62BD12953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BDA26-63FE-401E-B06D-E3A4CC991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939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reener.in/company/ADANIPORTS/consolidated/#analysis" TargetMode="Externa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reener.in/company/ADANIPORTS/consolidated/#peer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screener.in/company/JSWINFRA/consolidated/" TargetMode="External"/><Relationship Id="rId4" Type="http://schemas.openxmlformats.org/officeDocument/2006/relationships/hyperlink" Target="https://en.wikipedia.org/wiki/JSW_Group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reener.in/company/JSWINFRA/consolidated/" TargetMode="External"/><Relationship Id="rId13" Type="http://schemas.openxmlformats.org/officeDocument/2006/relationships/hyperlink" Target="https://www.careratings.com/upload/CompanyFiles/PR/202509120956_Jawaharlal_Nehru_Port_Authority.pdf" TargetMode="External"/><Relationship Id="rId3" Type="http://schemas.openxmlformats.org/officeDocument/2006/relationships/hyperlink" Target="https://en.wikipedia.org/wiki/Adani_Ports_%26_SEZ" TargetMode="External"/><Relationship Id="rId7" Type="http://schemas.openxmlformats.org/officeDocument/2006/relationships/hyperlink" Target="https://www.screener.in/company/ADANIPORTS/consolidated/#peers" TargetMode="External"/><Relationship Id="rId12" Type="http://schemas.openxmlformats.org/officeDocument/2006/relationships/hyperlink" Target="https://indiashippingnews.com/ports/jnpa-surpasses-8-million-teus-achieves-record-100-mmt-cargo-handling-in-fy-2025-26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adaniports.com/ports-and-terminals" TargetMode="External"/><Relationship Id="rId11" Type="http://schemas.openxmlformats.org/officeDocument/2006/relationships/hyperlink" Target="https://scanx.trade/stock-market-news/companies/jsw-infrastructure-limited-schedules-q4fy26-results-conference-call-for-may-8-2026/39268462" TargetMode="External"/><Relationship Id="rId5" Type="http://schemas.openxmlformats.org/officeDocument/2006/relationships/hyperlink" Target="https://www.bseindia.com/xml-data/corpfiling/AttachHis/28ee5493-d5bf-4bba-b34e-7b5022c6d663.pdf" TargetMode="External"/><Relationship Id="rId10" Type="http://schemas.openxmlformats.org/officeDocument/2006/relationships/hyperlink" Target="https://scanx.trade/stock-market-news/companies/jsw-infrastructure-may-2026-investor-presentation-122-mt-cargo-handled-revenue-rises-20-in-fy26/40081275" TargetMode="External"/><Relationship Id="rId4" Type="http://schemas.openxmlformats.org/officeDocument/2006/relationships/hyperlink" Target="https://www.adaniports.com/newsroom/media-releases" TargetMode="External"/><Relationship Id="rId9" Type="http://schemas.openxmlformats.org/officeDocument/2006/relationships/hyperlink" Target="https://en.wikipedia.org/wiki/JSW_Group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44015-E2CC-B407-33F4-AF3A92D6A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" y="2492262"/>
            <a:ext cx="11963400" cy="1873475"/>
          </a:xfrm>
        </p:spPr>
        <p:txBody>
          <a:bodyPr>
            <a:noAutofit/>
          </a:bodyPr>
          <a:lstStyle/>
          <a:p>
            <a:r>
              <a:rPr lang="en-US" sz="4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Adani Ports &amp; Special Economic Zone Ltd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Competitive Position &amp; Strategy Recommendations 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where APSEZ stands in the market, 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leads, who threatens it and what it must do next.</a:t>
            </a:r>
            <a:br>
              <a:rPr lang="en-US" sz="1100" dirty="0"/>
            </a:b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4B2C7-A999-B1FE-69A8-882F31FB8E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496153"/>
            <a:ext cx="9144000" cy="124210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Komal Rani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MBA (Business Analytics)</a:t>
            </a:r>
          </a:p>
        </p:txBody>
      </p:sp>
    </p:spTree>
    <p:extLst>
      <p:ext uri="{BB962C8B-B14F-4D97-AF65-F5344CB8AC3E}">
        <p14:creationId xmlns:p14="http://schemas.microsoft.com/office/powerpoint/2010/main" val="2147221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85"/>
    </mc:Choice>
    <mc:Fallback xmlns="">
      <p:transition spd="slow" advTm="358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71121E-B0E8-0148-1C0E-19671C59A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626" y="102746"/>
            <a:ext cx="10515600" cy="823912"/>
          </a:xfrm>
        </p:spPr>
        <p:txBody>
          <a:bodyPr>
            <a:normAutofit/>
          </a:bodyPr>
          <a:lstStyle/>
          <a:p>
            <a:r>
              <a:rPr lang="en-US" sz="4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COMPANY OVERVIEW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C80409-CA6F-E3B9-CF21-AC8344589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5991" y="869267"/>
            <a:ext cx="11145383" cy="823912"/>
          </a:xfrm>
        </p:spPr>
        <p:txBody>
          <a:bodyPr>
            <a:noAutofit/>
          </a:bodyPr>
          <a:lstStyle/>
          <a:p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Adani Ports &amp; Special Economic Zone Ltd (APSEZ) was founded in 1998 and operates </a:t>
            </a:r>
            <a:r>
              <a:rPr lang="en-US" sz="1800" b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India's biggest private port 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Mundra, Gujarat. Today it operates 19 ports - 15 in India and 4 international. The company also runs warehouses, rail freight, and logistics - making it a full end-to-end supply chain company, not just a port.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430FE43-CDEC-0FDF-307D-758B09DBB8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3164783"/>
              </p:ext>
            </p:extLst>
          </p:nvPr>
        </p:nvGraphicFramePr>
        <p:xfrm>
          <a:off x="0" y="2263206"/>
          <a:ext cx="12192000" cy="2687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CBC58C5-3B52-8445-51F4-5CC055BDEB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613313"/>
              </p:ext>
            </p:extLst>
          </p:nvPr>
        </p:nvGraphicFramePr>
        <p:xfrm>
          <a:off x="728348" y="5084408"/>
          <a:ext cx="3733799" cy="163552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807029">
                  <a:extLst>
                    <a:ext uri="{9D8B030D-6E8A-4147-A177-3AD203B41FA5}">
                      <a16:colId xmlns:a16="http://schemas.microsoft.com/office/drawing/2014/main" val="1168871101"/>
                    </a:ext>
                  </a:extLst>
                </a:gridCol>
                <a:gridCol w="1926770">
                  <a:extLst>
                    <a:ext uri="{9D8B030D-6E8A-4147-A177-3AD203B41FA5}">
                      <a16:colId xmlns:a16="http://schemas.microsoft.com/office/drawing/2014/main" val="4105572191"/>
                    </a:ext>
                  </a:extLst>
                </a:gridCol>
              </a:tblGrid>
              <a:tr h="22201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Financial Year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Revenue (₹ Crore)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4049458489"/>
                  </a:ext>
                </a:extLst>
              </a:tr>
              <a:tr h="26575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FY 2022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16,156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684495796"/>
                  </a:ext>
                </a:extLst>
              </a:tr>
              <a:tr h="26575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FY 2023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20,855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706450974"/>
                  </a:ext>
                </a:extLst>
              </a:tr>
              <a:tr h="26575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FY 2024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26,711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402540036"/>
                  </a:ext>
                </a:extLst>
              </a:tr>
              <a:tr h="28069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FY 2025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30,424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016689447"/>
                  </a:ext>
                </a:extLst>
              </a:tr>
              <a:tr h="31370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FY 2026 (March)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38,736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53232901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1F37611-496A-2D82-E474-41F2EAD4A02F}"/>
              </a:ext>
            </a:extLst>
          </p:cNvPr>
          <p:cNvSpPr txBox="1"/>
          <p:nvPr/>
        </p:nvSpPr>
        <p:spPr>
          <a:xfrm>
            <a:off x="5272096" y="5657671"/>
            <a:ext cx="6919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Key point: Revenue 2x in four years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revenue figures from screener.in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https://www.screener.in/company/ADANIPORTS/consolidated/#analysis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08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1371C-063E-8F82-D7AB-009273F9D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182" y="272721"/>
            <a:ext cx="10515600" cy="586921"/>
          </a:xfrm>
        </p:spPr>
        <p:txBody>
          <a:bodyPr/>
          <a:lstStyle/>
          <a:p>
            <a:r>
              <a:rPr lang="en-US" sz="3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COMPETITIVE POSITION ANALYSIS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7E6151B-79CB-EAC4-DF94-73529115C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254567"/>
              </p:ext>
            </p:extLst>
          </p:nvPr>
        </p:nvGraphicFramePr>
        <p:xfrm>
          <a:off x="337457" y="1375433"/>
          <a:ext cx="11658810" cy="437926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645438">
                  <a:extLst>
                    <a:ext uri="{9D8B030D-6E8A-4147-A177-3AD203B41FA5}">
                      <a16:colId xmlns:a16="http://schemas.microsoft.com/office/drawing/2014/main" val="3795180760"/>
                    </a:ext>
                  </a:extLst>
                </a:gridCol>
                <a:gridCol w="3030805">
                  <a:extLst>
                    <a:ext uri="{9D8B030D-6E8A-4147-A177-3AD203B41FA5}">
                      <a16:colId xmlns:a16="http://schemas.microsoft.com/office/drawing/2014/main" val="2932287146"/>
                    </a:ext>
                  </a:extLst>
                </a:gridCol>
                <a:gridCol w="2869252">
                  <a:extLst>
                    <a:ext uri="{9D8B030D-6E8A-4147-A177-3AD203B41FA5}">
                      <a16:colId xmlns:a16="http://schemas.microsoft.com/office/drawing/2014/main" val="1718803911"/>
                    </a:ext>
                  </a:extLst>
                </a:gridCol>
                <a:gridCol w="3113315">
                  <a:extLst>
                    <a:ext uri="{9D8B030D-6E8A-4147-A177-3AD203B41FA5}">
                      <a16:colId xmlns:a16="http://schemas.microsoft.com/office/drawing/2014/main" val="1301211921"/>
                    </a:ext>
                  </a:extLst>
                </a:gridCol>
              </a:tblGrid>
              <a:tr h="5459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Factor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Adani Ports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JSW Infrastructure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JNPT</a:t>
                      </a: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588377928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Ports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 (15 India + 4 overseas)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 (13 India + 1 UAE)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(Navi Mumbai)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746032264"/>
                  </a:ext>
                </a:extLst>
              </a:tr>
              <a:tr h="82476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Annual Cargo Handled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500.8 MMT (FY26)</a:t>
                      </a:r>
                    </a:p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effectLst/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(First </a:t>
                      </a:r>
                      <a:r>
                        <a:rPr lang="en-US" sz="1600" dirty="0"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largest commercial port operator</a:t>
                      </a:r>
                      <a:r>
                        <a:rPr lang="en-US" sz="1600" dirty="0">
                          <a:effectLst/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122 MMT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effectLst/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 largest commercial port operator</a:t>
                      </a:r>
                      <a:r>
                        <a:rPr lang="en-US" sz="1600" dirty="0">
                          <a:effectLst/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~100 MMT</a:t>
                      </a:r>
                    </a:p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effectLst/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India's largest government-owned container port)</a:t>
                      </a:r>
                      <a:endParaRPr lang="en-US" sz="16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624824249"/>
                  </a:ext>
                </a:extLst>
              </a:tr>
              <a:tr h="54109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Container Dominance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44.8% of India containers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(bulk cargo focus)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Mn TEUs  </a:t>
                      </a:r>
                    </a:p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container specialist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956040268"/>
                  </a:ext>
                </a:extLst>
              </a:tr>
              <a:tr h="36209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Presence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- 4 countries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UAE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164931791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 Investment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(AI -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Kaleris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2026)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to Moderate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515453479"/>
                  </a:ext>
                </a:extLst>
              </a:tr>
              <a:tr h="54109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effectLst/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Credit Rating</a:t>
                      </a:r>
                      <a:endParaRPr lang="en-US" sz="16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effectLst/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BBB (S&amp;P - Investment Grade)</a:t>
                      </a:r>
                      <a:endParaRPr lang="en-US" sz="16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effectLst/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rated globally</a:t>
                      </a:r>
                      <a:endParaRPr lang="en-US" sz="16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Government backed</a:t>
                      </a:r>
                      <a:endParaRPr lang="en-US" sz="1600" dirty="0">
                        <a:effectLst/>
                        <a:highlight>
                          <a:srgbClr val="00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511291881"/>
                  </a:ext>
                </a:extLst>
              </a:tr>
              <a:tr h="54109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Revenue (FY26)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₹38,736 Crore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₹5,361 Crore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₹3,262 Cr (FY25)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16226809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31EB971-556F-81E4-3FF1-540A639F36A9}"/>
              </a:ext>
            </a:extLst>
          </p:cNvPr>
          <p:cNvSpPr txBox="1"/>
          <p:nvPr/>
        </p:nvSpPr>
        <p:spPr>
          <a:xfrm>
            <a:off x="228182" y="859642"/>
            <a:ext cx="6182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6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Head-to-Head Comparison: Adani vs Key Rivals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4A8384-2AF6-6357-F927-E60A977CEF9D}"/>
              </a:ext>
            </a:extLst>
          </p:cNvPr>
          <p:cNvSpPr txBox="1"/>
          <p:nvPr/>
        </p:nvSpPr>
        <p:spPr>
          <a:xfrm>
            <a:off x="337457" y="5901156"/>
            <a:ext cx="66833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https://www.screener.in/company/ADANIPORTS/consolidated/#peers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https://en.wikipedia.org/wiki/JSW_Group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https://www.screener.in/company/JSWINFRA/consolidated/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481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12">
            <a:extLst>
              <a:ext uri="{FF2B5EF4-FFF2-40B4-BE49-F238E27FC236}">
                <a16:creationId xmlns:a16="http://schemas.microsoft.com/office/drawing/2014/main" id="{64AC99A2-70AB-BAAC-52C3-F5A1F8FFCE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6167540"/>
              </p:ext>
            </p:extLst>
          </p:nvPr>
        </p:nvGraphicFramePr>
        <p:xfrm>
          <a:off x="659673" y="1666846"/>
          <a:ext cx="10600509" cy="47716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82205">
                  <a:extLst>
                    <a:ext uri="{9D8B030D-6E8A-4147-A177-3AD203B41FA5}">
                      <a16:colId xmlns:a16="http://schemas.microsoft.com/office/drawing/2014/main" val="999743824"/>
                    </a:ext>
                  </a:extLst>
                </a:gridCol>
                <a:gridCol w="4718304">
                  <a:extLst>
                    <a:ext uri="{9D8B030D-6E8A-4147-A177-3AD203B41FA5}">
                      <a16:colId xmlns:a16="http://schemas.microsoft.com/office/drawing/2014/main" val="4142603459"/>
                    </a:ext>
                  </a:extLst>
                </a:gridCol>
              </a:tblGrid>
              <a:tr h="2241791">
                <a:tc>
                  <a:txBody>
                    <a:bodyPr/>
                    <a:lstStyle/>
                    <a:p>
                      <a:pPr algn="l" rtl="0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- STRENGTHS</a:t>
                      </a:r>
                    </a:p>
                    <a:p>
                      <a:pPr algn="l" rtl="0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lvl="0" indent="-285750" algn="l" rtl="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#Largest Private Port (27.6% share)</a:t>
                      </a:r>
                    </a:p>
                    <a:p>
                      <a:pPr marL="285750" lvl="0" indent="-285750" algn="l" rtl="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Revenue 2.4× in 4 yrs</a:t>
                      </a:r>
                    </a:p>
                    <a:p>
                      <a:pPr marL="285750" lvl="0" indent="-285750" algn="l" rtl="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Port+Rail+SEZ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lvl="0" indent="-285750" algn="l" rtl="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BBB Rating (S&amp;P 2026)</a:t>
                      </a:r>
                    </a:p>
                    <a:p>
                      <a:pPr marL="285750" lvl="0" indent="-285750" algn="l" rtl="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adoption (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Kaleris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 - WEAKNESSES</a:t>
                      </a:r>
                    </a:p>
                    <a:p>
                      <a:pPr algn="l" rtl="0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lvl="0" indent="-285750" algn="l" rtl="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debt ₹63,566 Cr</a:t>
                      </a:r>
                    </a:p>
                    <a:p>
                      <a:pPr marL="285750" lvl="0" indent="-285750" algn="l" rtl="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Mundra over-dependence</a:t>
                      </a:r>
                    </a:p>
                    <a:p>
                      <a:pPr marL="285750" lvl="0" indent="-285750" algn="l" rtl="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reputation risk</a:t>
                      </a:r>
                    </a:p>
                    <a:p>
                      <a:pPr marL="285750" lvl="0" indent="-285750" algn="l" rtl="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dividend (0.42%)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998593"/>
                  </a:ext>
                </a:extLst>
              </a:tr>
              <a:tr h="2221002">
                <a:tc>
                  <a:txBody>
                    <a:bodyPr/>
                    <a:lstStyle/>
                    <a:p>
                      <a:pPr algn="l" rtl="0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 - OPPORTUNITIES</a:t>
                      </a:r>
                    </a:p>
                    <a:p>
                      <a:pPr algn="l" rtl="0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lvl="0" indent="-285750" algn="l" rtl="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Vizhinjam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deep-sea hub port</a:t>
                      </a:r>
                    </a:p>
                    <a:p>
                      <a:pPr marL="285750" lvl="0" indent="-285750" algn="l" rtl="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Lead India-Middle East-Europe (IMEC) (Feb 2026)</a:t>
                      </a:r>
                    </a:p>
                    <a:p>
                      <a:pPr marL="285750" lvl="0" indent="-285750" algn="l" rtl="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African &amp; Southeast Asia expansion</a:t>
                      </a:r>
                    </a:p>
                    <a:p>
                      <a:pPr algn="l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 - THREATS</a:t>
                      </a:r>
                    </a:p>
                    <a:p>
                      <a:pPr algn="l" rtl="0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lvl="0" indent="-285750" algn="l" rtl="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JSW Infra rapid expansion</a:t>
                      </a:r>
                    </a:p>
                    <a:p>
                      <a:pPr marL="285750" lvl="0" indent="-285750" algn="l" rtl="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Govt policy/tariff changes</a:t>
                      </a:r>
                    </a:p>
                    <a:p>
                      <a:pPr marL="285750" lvl="0" indent="-285750" algn="l" rtl="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Geopolitical disruptions</a:t>
                      </a:r>
                    </a:p>
                    <a:p>
                      <a:pPr marL="285750" lvl="0" indent="-285750" algn="l" rtl="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Climate &amp; cyclone risk</a:t>
                      </a:r>
                    </a:p>
                    <a:p>
                      <a:pPr marL="285750" lvl="0" indent="-285750" algn="l" rtl="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Rising interest rates</a:t>
                      </a:r>
                    </a:p>
                    <a:p>
                      <a:pPr algn="l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42513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54A5838-89A0-425B-B974-5E07CE8C8220}"/>
              </a:ext>
            </a:extLst>
          </p:cNvPr>
          <p:cNvSpPr txBox="1"/>
          <p:nvPr/>
        </p:nvSpPr>
        <p:spPr>
          <a:xfrm>
            <a:off x="533399" y="326573"/>
            <a:ext cx="4838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SWOT</a:t>
            </a:r>
            <a:r>
              <a:rPr lang="en-US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32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D0A53F-213E-6FB9-B85B-0B06DB1DB104}"/>
              </a:ext>
            </a:extLst>
          </p:cNvPr>
          <p:cNvSpPr txBox="1"/>
          <p:nvPr/>
        </p:nvSpPr>
        <p:spPr>
          <a:xfrm>
            <a:off x="5959928" y="199738"/>
            <a:ext cx="435568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Strengths (what Adani does WELL) 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= Weaknesses (what needs FIXING) 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= Opportunities (good things OUTSIDE) 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Threats (risks OUTSIDE)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392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3CAB8-646E-61F4-7EBB-776593873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107904F-1AD6-20BA-BECA-90819E502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16" y="122296"/>
            <a:ext cx="10515600" cy="777875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TOWS MATRIX STRATEGIES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5C7E23B8-CAD6-D435-D973-C073C5625DA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03523921"/>
              </p:ext>
            </p:extLst>
          </p:nvPr>
        </p:nvGraphicFramePr>
        <p:xfrm>
          <a:off x="152400" y="1678046"/>
          <a:ext cx="11800114" cy="4800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71">
                  <a:extLst>
                    <a:ext uri="{9D8B030D-6E8A-4147-A177-3AD203B41FA5}">
                      <a16:colId xmlns:a16="http://schemas.microsoft.com/office/drawing/2014/main" val="1213086323"/>
                    </a:ext>
                  </a:extLst>
                </a:gridCol>
                <a:gridCol w="5769429">
                  <a:extLst>
                    <a:ext uri="{9D8B030D-6E8A-4147-A177-3AD203B41FA5}">
                      <a16:colId xmlns:a16="http://schemas.microsoft.com/office/drawing/2014/main" val="3201112503"/>
                    </a:ext>
                  </a:extLst>
                </a:gridCol>
                <a:gridCol w="5551714">
                  <a:extLst>
                    <a:ext uri="{9D8B030D-6E8A-4147-A177-3AD203B41FA5}">
                      <a16:colId xmlns:a16="http://schemas.microsoft.com/office/drawing/2014/main" val="2065788742"/>
                    </a:ext>
                  </a:extLst>
                </a:gridCol>
              </a:tblGrid>
              <a:tr h="399558"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1" rtl="0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OPPORTUNITIES (O)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THREATS (T)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891295"/>
                  </a:ext>
                </a:extLst>
              </a:tr>
              <a:tr h="690146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STRENGTHS (S)</a:t>
                      </a:r>
                    </a:p>
                    <a:p>
                      <a:endParaRPr lang="en-US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vert27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 | USE STRENGTHS to GRAB OPPORTUNITIES | GROW</a:t>
                      </a:r>
                    </a:p>
                    <a:p>
                      <a:pPr algn="ctr"/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Maxi-Maxi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 | USE STRENGTHS to FIGHT THREATS | DEFEND </a:t>
                      </a:r>
                    </a:p>
                    <a:p>
                      <a:pPr algn="ctr"/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Maxi-Mini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198049"/>
                  </a:ext>
                </a:extLst>
              </a:tr>
              <a:tr h="151893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rtl="0">
                        <a:buFont typeface="+mj-lt"/>
                        <a:buAutoNum type="arabicParenR"/>
                      </a:pPr>
                      <a:r>
                        <a:rPr lang="en-US" sz="1600" dirty="0"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Scale </a:t>
                      </a:r>
                      <a:r>
                        <a:rPr lang="en-US" sz="1600" dirty="0" err="1"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Vizhinjam</a:t>
                      </a:r>
                      <a:r>
                        <a:rPr lang="en-US" sz="1600" dirty="0"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into India's #1 transshipment hub by attracting more global shipping lines like MSC - reducing India's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dependence on Colombo port</a:t>
                      </a:r>
                    </a:p>
                    <a:p>
                      <a:pPr marL="342900" lvl="0" indent="-342900" rtl="0">
                        <a:buFont typeface="+mj-lt"/>
                        <a:buAutoNum type="arabicParenR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Lead India-Middle East-Europe (IMEC) trade corridor</a:t>
                      </a:r>
                    </a:p>
                    <a:p>
                      <a:pPr marL="342900" lvl="0" indent="-342900" rtl="0">
                        <a:buFont typeface="+mj-lt"/>
                        <a:buAutoNum type="arabicParenR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 AI logistics platform for major manufacturers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rtl="0">
                        <a:buFont typeface="+mj-lt"/>
                        <a:buAutoNum type="arabicParenR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Lock in customers with 15-20 year long-term contracts</a:t>
                      </a:r>
                    </a:p>
                    <a:p>
                      <a:pPr marL="342900" lvl="0" indent="-342900" rtl="0">
                        <a:buFont typeface="+mj-lt"/>
                        <a:buAutoNum type="arabicParenR"/>
                      </a:pPr>
                      <a:r>
                        <a:rPr lang="en-US" sz="1600" dirty="0"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 AI systems to stay ahead of JSW &amp; Govt ports</a:t>
                      </a:r>
                    </a:p>
                    <a:p>
                      <a:pPr marL="342900" lvl="0" indent="-342900" rtl="0">
                        <a:buFont typeface="+mj-lt"/>
                        <a:buAutoNum type="arabicParenR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 cyclone-proof infrastructure on the east coast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690644"/>
                  </a:ext>
                </a:extLst>
              </a:tr>
              <a:tr h="690146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WEAKNESSES (W)</a:t>
                      </a:r>
                    </a:p>
                    <a:p>
                      <a:endParaRPr lang="en-US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vert27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 | FIX WEAKNESSES to GRAB OPPORTUNITIES | IMPROVE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Mini-Maxi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WT | REDUCE WEAKNESS + AVOID THREATS | PROTECT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Mini-Mini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617949"/>
                  </a:ext>
                </a:extLst>
              </a:tr>
              <a:tr h="150181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rtl="0">
                        <a:buFont typeface="+mj-lt"/>
                        <a:buAutoNum type="arabicParenR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Invest in east coast port development to reduce Mundra over-dependence</a:t>
                      </a:r>
                    </a:p>
                    <a:p>
                      <a:pPr marL="342900" lvl="0" indent="-342900" rtl="0">
                        <a:buFont typeface="+mj-lt"/>
                        <a:buAutoNum type="arabicParenR"/>
                      </a:pPr>
                      <a:r>
                        <a:rPr lang="en-US" sz="1600" dirty="0"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Refinance high-cost debt using Green Bonds (BBB rating)</a:t>
                      </a:r>
                    </a:p>
                    <a:p>
                      <a:pPr marL="342900" lvl="0" indent="-342900" rtl="0">
                        <a:buFont typeface="+mj-lt"/>
                        <a:buAutoNum type="arabicParenR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 ESG transparency report to attract global investors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rtl="0">
                        <a:buFont typeface="+mj-lt"/>
                        <a:buAutoNum type="arabicParenR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Prepare a crisis communication plan for group-level risks</a:t>
                      </a:r>
                    </a:p>
                    <a:p>
                      <a:pPr marL="342900" lvl="0" indent="-342900" rtl="0">
                        <a:buFont typeface="+mj-lt"/>
                        <a:buAutoNum type="arabicParenR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 strengthening existing 15 India ports before adding more international exposure - reduces geopolitical risk while debt is being managed."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14911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505A640-1A89-4074-9AFB-4D23799FEAA1}"/>
              </a:ext>
            </a:extLst>
          </p:cNvPr>
          <p:cNvSpPr txBox="1"/>
          <p:nvPr/>
        </p:nvSpPr>
        <p:spPr>
          <a:xfrm>
            <a:off x="141516" y="900171"/>
            <a:ext cx="109502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Adani Ports combines its strengths &amp; weaknesses into strategy - Framework: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Weihrich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(1982)</a:t>
            </a:r>
          </a:p>
        </p:txBody>
      </p:sp>
    </p:spTree>
    <p:extLst>
      <p:ext uri="{BB962C8B-B14F-4D97-AF65-F5344CB8AC3E}">
        <p14:creationId xmlns:p14="http://schemas.microsoft.com/office/powerpoint/2010/main" val="1061882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47365-31AF-6B61-DBD3-1F039D916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003" y="125737"/>
            <a:ext cx="6410146" cy="1074971"/>
          </a:xfrm>
        </p:spPr>
        <p:txBody>
          <a:bodyPr/>
          <a:lstStyle/>
          <a:p>
            <a:r>
              <a:rPr lang="en-US" sz="5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4D9E94-DAC0-FA1F-125E-998C9691DA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37003" y="1055914"/>
            <a:ext cx="11754997" cy="5250193"/>
          </a:xfrm>
        </p:spPr>
        <p:txBody>
          <a:bodyPr>
            <a:no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overview: adaniports.com (official website)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https://en.wikipedia.org/wiki/Adani_Ports_%26_SEZ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https://www.adaniports.com/newsroom/media-releases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APSEZ Investor Presentation, Q1 FY27, July 2026 Screener.in</a:t>
            </a:r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https://www.bseindia.com/xml-data/corpfiling/AttachHis/28ee5493-d5bf-4bba-b34e-7b5022c6d663.pdf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https://www.adaniports.com/ports-and-terminals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Competitors information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https://www.screener.in/company/ADANIPORTS/consolidated/#peers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JSW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https://www.screener.in/company/JSWINFRA/consolidated/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https://en.wikipedia.org/wiki/JSW_Group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https://scanx.trade/stock-market-news/companies/jsw-infrastructure-may-2026-investor-presentation-122-mt-cargo-handled-revenue-rises-20-in-fy26/40081275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https://scanx.trade/stock-market-news/companies/jsw-infrastructure-limited-schedules-q4fy26-results-conference-call-for-may-8-2026/39268462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JNPT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12"/>
              </a:rPr>
              <a:t>https://indiashippingnews.com/ports/jnpa-surpasses-8-million-teus-achieves-record-100-mmt-cargo-handling-in-fy-2025-26/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13"/>
              </a:rPr>
              <a:t>https://www.careratings.com/upload/CompanyFiles/PR/202509120956_Jawaharlal_Nehru_Port_Authority.pdf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343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61909B1-B704-0374-C178-ACE7A91986AE}"/>
              </a:ext>
            </a:extLst>
          </p:cNvPr>
          <p:cNvSpPr txBox="1"/>
          <p:nvPr/>
        </p:nvSpPr>
        <p:spPr>
          <a:xfrm>
            <a:off x="3622406" y="2449286"/>
            <a:ext cx="494718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35257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443</TotalTime>
  <Words>962</Words>
  <Application>Microsoft Office PowerPoint</Application>
  <PresentationFormat>Widescreen</PresentationFormat>
  <Paragraphs>152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Wingdings</vt:lpstr>
      <vt:lpstr>Office Theme</vt:lpstr>
      <vt:lpstr>Adani Ports &amp; Special Economic Zone Ltd Competitive Position &amp; Strategy Recommendations    Analysis of where APSEZ stands in the market,  why it leads, who threatens it and what it must do next. </vt:lpstr>
      <vt:lpstr>COMPANY OVERVIEW</vt:lpstr>
      <vt:lpstr>COMPETITIVE POSITION ANALYSIS</vt:lpstr>
      <vt:lpstr>PowerPoint Presentation</vt:lpstr>
      <vt:lpstr>TOWS MATRIX STRATEGIES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Komal Rani</dc:creator>
  <cp:lastModifiedBy>Komal Rani</cp:lastModifiedBy>
  <cp:revision>110</cp:revision>
  <dcterms:created xsi:type="dcterms:W3CDTF">2026-09-26T17:50:46Z</dcterms:created>
  <dcterms:modified xsi:type="dcterms:W3CDTF">2026-10-15T05:38:33Z</dcterms:modified>
</cp:coreProperties>
</file>